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930" y="8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d8c7f7f2fca5aef8" providerId="LiveId" clId="{ED23B4C0-E6DC-4C4D-9895-5F1B9ADC52B6}"/>
    <pc:docChg chg="modSld">
      <pc:chgData name="" userId="d8c7f7f2fca5aef8" providerId="LiveId" clId="{ED23B4C0-E6DC-4C4D-9895-5F1B9ADC52B6}" dt="2026-09-04T07:34:07.789" v="0" actId="1076"/>
      <pc:docMkLst>
        <pc:docMk/>
      </pc:docMkLst>
      <pc:sldChg chg="modSp">
        <pc:chgData name="" userId="d8c7f7f2fca5aef8" providerId="LiveId" clId="{ED23B4C0-E6DC-4C4D-9895-5F1B9ADC52B6}" dt="2026-09-04T07:34:07.789" v="0" actId="1076"/>
        <pc:sldMkLst>
          <pc:docMk/>
          <pc:sldMk cId="0" sldId="264"/>
        </pc:sldMkLst>
        <pc:spChg chg="mod">
          <ac:chgData name="" userId="d8c7f7f2fca5aef8" providerId="LiveId" clId="{ED23B4C0-E6DC-4C4D-9895-5F1B9ADC52B6}" dt="2026-09-04T07:34:07.789" v="0" actId="1076"/>
          <ac:spMkLst>
            <pc:docMk/>
            <pc:sldMk cId="0" sldId="264"/>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681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respected evaluators, professors, and industry mentors. My name is Aryan Raj, and today I am excited to present my internship project report and final presentation on the 'Digital Operation Hub', also built as TeamSync B2B. During my four-week tenure as a MERN Stack Developer Intern at Amsys Infocom Pvt Ltd, under the Software Development Department in Noida, I worked on architecting and delivering an enterprise-ready operations and agile workflow platform. In this 10-minute presentation, I will walk you through the company background, industry problem statement, technical architecture, features implemented, personal contributions, challenges solved, and learning outcomes. Let us begin.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me to introduce the host company where I carried out my internship. AMSYS Infocom Private Limited is an established software engineering and IT consulting organization located at Sector 63, Noida. The company specializes in building robust, high-performance web applications, cloud-native systems, and customized enterprise B2B software solutions. The Software Development Department at AMSYS fosters a disciplined Agile environment focusing on scalable code, modular micro-architectures, data security, and collaborative sprint reviews. Working in this setting gave me real-world exposure to production-level standards, clean API design, and team-driven software engineering.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 outline my internship scope. As a MERN Stack Developer Intern, my primary goal was to conceptualize, design, and implement the Digital Operation Hub. My responsibilities spanned both backend and frontend development. On the backend, I designed 9 MongoDB schemas, configured RESTful API route handlers in Express 5, integrated JWT and OAuth authentication, and implemented RBAC middleware. On the frontend, I engineered a responsive single-page application using React 18 and Vite, incorporating Kanban task boards, project milestone trackers, and real-time workspace metrics. Everything was executed with daily standups and weekly sprint deliverables under Program Manager Saurabh Shukla.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we build this project? Modern organizations face four critical bottlenecks. First, tool sprawl: developers and managers switch constantly between standalone task boards, chat apps, and issue trackers, leading to lost time. Second, data isolation: enterprises running multiple client accounts or business units struggle with data segregation without multi-tenant architecture. Third, visibility gaps: leadership lacks a single pane of glass to view sprint velocity, high-priority blockers, and historical audit logs. Fourth, access governance: granting precise role-based access safely and inviting team members frictionlessly remains a hassle. The Digital Operation Hub was created to eliminate these bottlenecks in one unified solution.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these industry challenges, we engineered the Digital Operation Hub (TeamSync B2B). The platform serves as a unified SaaS operations center. Teams can register an organization workspace, invite team members with specific roles like Admin, Member, or Viewer, create projects with custom project keys, break initiatives down into epics, and assign tasks with deadlines and priority tags. We designed it with three foundational pillars: strict multi-tenant data isolation, fluid Kanban task progression, and comprehensive auditability. Every action triggers an activity log entry, providing absolute transparency across the organization.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to our technology stack, we adopted the robust MERN stack architecture with carefully selected supporting libraries. On the frontend, we used React 18 with Vite for instantaneous hot module replacement, React Router v6 for clean single-page routing, and Lucide icons for crisp visual indicators, styled with a modern dark-mode design system. On the backend, we leveraged Node.js v24 with Express 5, using Zod for strict runtime schema validation of inbound payloads. On the database tier, we utilized MongoDB Atlas alongside Mongoose ODM, utilizing compound indexing and document population. For authentication and security, we implemented dual-flow authentication with JWT and Passport.js Google OAuth 2.0, Bcrypt password hashing, and custom RBAC middleware.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present the 3-Tier System Architecture. At the top is the Presentation Tier built with React 18, utilizing the Context API for seamless authentication and workspace state synchronization. When a user interacts with the UI, requests are securely dispatched with authentication tokens. In Tier 2, the Express.js Application Gateway processes requests through security layers: CORS origin checking, session/token verification, and RBAC authorization. Once authorized, controllers validate inputs with Zod schemas and perform business logic. In Tier 3, MongoDB Atlas persists normalized data across 9 collections with indexed query optimization. Whenever a task or project is updated, an automated trigger creates an activity log entry, guaranteeing end-to-end data traceability.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six core modules implemented in Digital Operation Hub. First, Multi-Tenant Workspaces allow organizations to create multiple separated domains. Second, Projects and Epics provide top-level milestone tracking with automated key generation. Third, the interactive Kanban board allows team members to drag or transition tasks across four distinct stages with urgent, high, medium, and low priority indicators. Fourth, RBAC governance secures sensitive operations based on member roles. Fifth, our Activity Stream serves as an immutable audit log of workspace events. Finally, the Analytics module generates real-time completion statistics and workload distribution metrics for project managers.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my direct contributions during the internship: I worked across the full stack. On the backend, I designed and coded all 11 API route modules, created the 9 Mongoose data schemas, built the authentication pipeline supporting both JWT and Google OAuth 2.0, implemented Zod payload validation, and crafted automated database seeders and verification utilities. On the frontend, I engineered over 10 responsive views in React 18, integrated centralized state management via React Contexts, built the entire API client abstraction layer, and styled a custom dark-mode UI with smooth micro-interactions. My code was reviewed and merged during weekly sprint milestones.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development, I encountered several real-world technical challenges that enhanced my problem-solving abilities. One notable issue was MongoDB Atlas DNS SRV resolution timeouts in Node.js. I solved this by explicitly configuring DNS servers with Cloudflare and Google nameservers at the application entry point. Another critical challenge was preventing multi-tenant data leakage. I resolved this by engineering a custom workspace-scoping middleware that automatically verifies tenant permissions and injects workspace filters into database queries. Lastly, handling cross-origin cookie sessions between the Vite frontend and Express backend required precise CORS credential headers and hybrid JWT fallback handling. These challenges provided valuable insights into production-grade systems.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Summarizing the outcomes of this internship: We delivered a fully functioning, high-performance Digital Operation Hub that met all project specifications within our 4-week timeline. The project earned an official Internship Certificate and high commendation from Program Manager Saurabh Shukla for efficiency and technical execution. On a personal level, this internship significantly accelerated my engineering capabilities—from advanced Mongoose data modeling and enterprise security to modern React state management and Agile collaboration practices.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internship at AMSYS Infocom has been an invaluable learning experience. We successfully conceived and delivered the Digital Operation Hub, creating a cohesive, secure, and intuitive operations platform. Looking ahead, future enhancements will incorporate Socket.io WebSockets for real-time collaboration, AI-driven sprint forecasting, and mobile application support. I would like to express my sincere gratitude to my mentor Saurabh Shukla, the entire software development team at AMSYS Infocom, and my evaluators and professors for their guidance and support. I am now open to any questions or feedback. 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4F46E5"/>
          </a:solidFill>
          <a:ln/>
        </p:spPr>
      </p:sp>
      <p:sp>
        <p:nvSpPr>
          <p:cNvPr id="3" name="Shape 1"/>
          <p:cNvSpPr/>
          <p:nvPr/>
        </p:nvSpPr>
        <p:spPr>
          <a:xfrm>
            <a:off x="914400" y="1005840"/>
            <a:ext cx="3474720" cy="365760"/>
          </a:xfrm>
          <a:prstGeom prst="rect">
            <a:avLst/>
          </a:prstGeom>
          <a:solidFill>
            <a:srgbClr val="1E293B"/>
          </a:solidFill>
          <a:ln w="12700">
            <a:solidFill>
              <a:srgbClr val="334155"/>
            </a:solidFill>
            <a:prstDash val="solid"/>
          </a:ln>
        </p:spPr>
      </p:sp>
      <p:sp>
        <p:nvSpPr>
          <p:cNvPr id="4" name="Text 2"/>
          <p:cNvSpPr/>
          <p:nvPr/>
        </p:nvSpPr>
        <p:spPr>
          <a:xfrm>
            <a:off x="914400" y="1005840"/>
            <a:ext cx="3474720" cy="365760"/>
          </a:xfrm>
          <a:prstGeom prst="rect">
            <a:avLst/>
          </a:prstGeom>
          <a:noFill/>
          <a:ln/>
        </p:spPr>
        <p:txBody>
          <a:bodyPr wrap="square" rtlCol="0" anchor="ctr"/>
          <a:lstStyle/>
          <a:p>
            <a:pPr marL="0" indent="0" algn="ctr">
              <a:buNone/>
            </a:pPr>
            <a:r>
              <a:rPr lang="en-US" sz="1000" b="1" dirty="0">
                <a:solidFill>
                  <a:srgbClr val="818CF8"/>
                </a:solidFill>
                <a:latin typeface="Segoe UI" pitchFamily="34" charset="0"/>
                <a:ea typeface="Segoe UI" pitchFamily="34" charset="-122"/>
                <a:cs typeface="Segoe UI" pitchFamily="34" charset="-120"/>
              </a:rPr>
              <a:t>INTERNSHIP &amp; PROJECT EVALUATION</a:t>
            </a:r>
            <a:endParaRPr lang="en-US" sz="1000" dirty="0"/>
          </a:p>
        </p:txBody>
      </p:sp>
      <p:sp>
        <p:nvSpPr>
          <p:cNvPr id="5" name="Text 3"/>
          <p:cNvSpPr/>
          <p:nvPr/>
        </p:nvSpPr>
        <p:spPr>
          <a:xfrm>
            <a:off x="914400" y="1508760"/>
            <a:ext cx="10058400" cy="822960"/>
          </a:xfrm>
          <a:prstGeom prst="rect">
            <a:avLst/>
          </a:prstGeom>
          <a:noFill/>
          <a:ln/>
        </p:spPr>
        <p:txBody>
          <a:bodyPr wrap="square" rtlCol="0" anchor="ctr"/>
          <a:lstStyle/>
          <a:p>
            <a:pPr marL="0" indent="0">
              <a:buNone/>
            </a:pPr>
            <a:r>
              <a:rPr lang="en-US" sz="3400" b="1" dirty="0">
                <a:solidFill>
                  <a:srgbClr val="FFFFFF"/>
                </a:solidFill>
                <a:latin typeface="Segoe UI" pitchFamily="34" charset="0"/>
                <a:ea typeface="Segoe UI" pitchFamily="34" charset="-122"/>
                <a:cs typeface="Segoe UI" pitchFamily="34" charset="-120"/>
              </a:rPr>
              <a:t>DIGITAL OPERATION HUB</a:t>
            </a:r>
            <a:endParaRPr lang="en-US" sz="3400" dirty="0"/>
          </a:p>
        </p:txBody>
      </p:sp>
      <p:sp>
        <p:nvSpPr>
          <p:cNvPr id="6" name="Text 4"/>
          <p:cNvSpPr/>
          <p:nvPr/>
        </p:nvSpPr>
        <p:spPr>
          <a:xfrm>
            <a:off x="914400" y="2331720"/>
            <a:ext cx="10058400" cy="41148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TeamSync B2B: Enterprise Multi-Tenant Operations &amp; Agile Sprint Workspace</a:t>
            </a:r>
            <a:endParaRPr lang="en-US" sz="1500" dirty="0"/>
          </a:p>
        </p:txBody>
      </p:sp>
      <p:sp>
        <p:nvSpPr>
          <p:cNvPr id="7" name="Shape 5"/>
          <p:cNvSpPr/>
          <p:nvPr/>
        </p:nvSpPr>
        <p:spPr>
          <a:xfrm>
            <a:off x="914400" y="3017520"/>
            <a:ext cx="4937760" cy="2926080"/>
          </a:xfrm>
          <a:prstGeom prst="rect">
            <a:avLst/>
          </a:prstGeom>
          <a:solidFill>
            <a:srgbClr val="1E293B"/>
          </a:solidFill>
          <a:ln w="12700">
            <a:solidFill>
              <a:srgbClr val="334155"/>
            </a:solidFill>
            <a:prstDash val="solid"/>
          </a:ln>
        </p:spPr>
      </p:sp>
      <p:sp>
        <p:nvSpPr>
          <p:cNvPr id="8" name="Text 6"/>
          <p:cNvSpPr/>
          <p:nvPr/>
        </p:nvSpPr>
        <p:spPr>
          <a:xfrm>
            <a:off x="1188720" y="3246120"/>
            <a:ext cx="4389120" cy="274320"/>
          </a:xfrm>
          <a:prstGeom prst="rect">
            <a:avLst/>
          </a:prstGeom>
          <a:noFill/>
          <a:ln/>
        </p:spPr>
        <p:txBody>
          <a:bodyPr wrap="square" rtlCol="0" anchor="ctr"/>
          <a:lstStyle/>
          <a:p>
            <a:pPr marL="0" indent="0">
              <a:buNone/>
            </a:pPr>
            <a:r>
              <a:rPr lang="en-US" sz="1100" b="1" dirty="0">
                <a:solidFill>
                  <a:srgbClr val="38BDF8"/>
                </a:solidFill>
                <a:latin typeface="Segoe UI" pitchFamily="34" charset="0"/>
                <a:ea typeface="Segoe UI" pitchFamily="34" charset="-122"/>
                <a:cs typeface="Segoe UI" pitchFamily="34" charset="-120"/>
              </a:rPr>
              <a:t>CANDIDATE INFORMATION</a:t>
            </a:r>
            <a:endParaRPr lang="en-US" sz="1100" dirty="0"/>
          </a:p>
        </p:txBody>
      </p:sp>
      <p:sp>
        <p:nvSpPr>
          <p:cNvPr id="9" name="Text 7"/>
          <p:cNvSpPr/>
          <p:nvPr/>
        </p:nvSpPr>
        <p:spPr>
          <a:xfrm>
            <a:off x="1188720" y="3566160"/>
            <a:ext cx="4389120" cy="2103120"/>
          </a:xfrm>
          <a:prstGeom prst="rect">
            <a:avLst/>
          </a:prstGeom>
          <a:noFill/>
          <a:ln/>
        </p:spPr>
        <p:txBody>
          <a:bodyPr wrap="square" rtlCol="0" anchor="ctr"/>
          <a:lstStyle/>
          <a:p>
            <a:pPr marL="0" indent="0">
              <a:lnSpc>
                <a:spcPts val="2200"/>
              </a:lnSpc>
              <a:buNone/>
            </a:pPr>
            <a:r>
              <a:rPr lang="en-US" sz="1200" b="1" dirty="0">
                <a:solidFill>
                  <a:srgbClr val="CBD5E1"/>
                </a:solidFill>
                <a:latin typeface="Segoe UI" pitchFamily="34" charset="0"/>
                <a:ea typeface="Segoe UI" pitchFamily="34" charset="-122"/>
                <a:cs typeface="Segoe UI" pitchFamily="34" charset="-120"/>
              </a:rPr>
              <a:t>Name: </a:t>
            </a:r>
            <a:r>
              <a:rPr lang="en-US" sz="1200" b="1" dirty="0">
                <a:solidFill>
                  <a:srgbClr val="FFFFFF"/>
                </a:solidFill>
                <a:latin typeface="Segoe UI" pitchFamily="34" charset="0"/>
                <a:ea typeface="Segoe UI" pitchFamily="34" charset="-122"/>
                <a:cs typeface="Segoe UI" pitchFamily="34" charset="-120"/>
              </a:rPr>
              <a:t>Aryan Raj
</a:t>
            </a:r>
            <a:r>
              <a:rPr lang="en-US" sz="1200" b="1" dirty="0">
                <a:solidFill>
                  <a:srgbClr val="CBD5E1"/>
                </a:solidFill>
                <a:latin typeface="Segoe UI" pitchFamily="34" charset="0"/>
                <a:ea typeface="Segoe UI" pitchFamily="34" charset="-122"/>
                <a:cs typeface="Segoe UI" pitchFamily="34" charset="-120"/>
              </a:rPr>
              <a:t>Role: </a:t>
            </a:r>
            <a:r>
              <a:rPr lang="en-US" sz="1200" dirty="0">
                <a:solidFill>
                  <a:srgbClr val="E2E8F0"/>
                </a:solidFill>
                <a:latin typeface="Segoe UI" pitchFamily="34" charset="0"/>
                <a:ea typeface="Segoe UI" pitchFamily="34" charset="-122"/>
                <a:cs typeface="Segoe UI" pitchFamily="34" charset="-120"/>
              </a:rPr>
              <a:t>MERN Stack Developer Intern
</a:t>
            </a:r>
            <a:r>
              <a:rPr lang="en-US" sz="1200" b="1" dirty="0">
                <a:solidFill>
                  <a:srgbClr val="CBD5E1"/>
                </a:solidFill>
                <a:latin typeface="Segoe UI" pitchFamily="34" charset="0"/>
                <a:ea typeface="Segoe UI" pitchFamily="34" charset="-122"/>
                <a:cs typeface="Segoe UI" pitchFamily="34" charset="-120"/>
              </a:rPr>
              <a:t>Department: </a:t>
            </a:r>
            <a:r>
              <a:rPr lang="en-US" sz="1200" dirty="0">
                <a:solidFill>
                  <a:srgbClr val="E2E8F0"/>
                </a:solidFill>
                <a:latin typeface="Segoe UI" pitchFamily="34" charset="0"/>
                <a:ea typeface="Segoe UI" pitchFamily="34" charset="-122"/>
                <a:cs typeface="Segoe UI" pitchFamily="34" charset="-120"/>
              </a:rPr>
              <a:t>Software Development Department
</a:t>
            </a:r>
            <a:r>
              <a:rPr lang="en-US" sz="1200" b="1" dirty="0">
                <a:solidFill>
                  <a:srgbClr val="CBD5E1"/>
                </a:solidFill>
                <a:latin typeface="Segoe UI" pitchFamily="34" charset="0"/>
                <a:ea typeface="Segoe UI" pitchFamily="34" charset="-122"/>
                <a:cs typeface="Segoe UI" pitchFamily="34" charset="-120"/>
              </a:rPr>
              <a:t>Domain: </a:t>
            </a:r>
            <a:r>
              <a:rPr lang="en-US" sz="1200" dirty="0">
                <a:solidFill>
                  <a:srgbClr val="E2E8F0"/>
                </a:solidFill>
                <a:latin typeface="Segoe UI" pitchFamily="34" charset="0"/>
                <a:ea typeface="Segoe UI" pitchFamily="34" charset="-122"/>
                <a:cs typeface="Segoe UI" pitchFamily="34" charset="-120"/>
              </a:rPr>
              <a:t>Full Stack Web Engineering (B2B SaaS)</a:t>
            </a:r>
            <a:endParaRPr lang="en-US" sz="1200" dirty="0"/>
          </a:p>
        </p:txBody>
      </p:sp>
      <p:sp>
        <p:nvSpPr>
          <p:cNvPr id="10" name="Shape 8"/>
          <p:cNvSpPr/>
          <p:nvPr/>
        </p:nvSpPr>
        <p:spPr>
          <a:xfrm>
            <a:off x="6217920" y="3017520"/>
            <a:ext cx="5029200" cy="2926080"/>
          </a:xfrm>
          <a:prstGeom prst="rect">
            <a:avLst/>
          </a:prstGeom>
          <a:solidFill>
            <a:srgbClr val="1E293B"/>
          </a:solidFill>
          <a:ln w="12700">
            <a:solidFill>
              <a:srgbClr val="334155"/>
            </a:solidFill>
            <a:prstDash val="solid"/>
          </a:ln>
        </p:spPr>
      </p:sp>
      <p:sp>
        <p:nvSpPr>
          <p:cNvPr id="11" name="Text 9"/>
          <p:cNvSpPr/>
          <p:nvPr/>
        </p:nvSpPr>
        <p:spPr>
          <a:xfrm>
            <a:off x="6492240" y="3246120"/>
            <a:ext cx="4480560" cy="274320"/>
          </a:xfrm>
          <a:prstGeom prst="rect">
            <a:avLst/>
          </a:prstGeom>
          <a:noFill/>
          <a:ln/>
        </p:spPr>
        <p:txBody>
          <a:bodyPr wrap="square" rtlCol="0" anchor="ctr"/>
          <a:lstStyle/>
          <a:p>
            <a:pPr marL="0" indent="0">
              <a:buNone/>
            </a:pPr>
            <a:r>
              <a:rPr lang="en-US" sz="1100" b="1" dirty="0">
                <a:solidFill>
                  <a:srgbClr val="34D399"/>
                </a:solidFill>
                <a:latin typeface="Segoe UI" pitchFamily="34" charset="0"/>
                <a:ea typeface="Segoe UI" pitchFamily="34" charset="-122"/>
                <a:cs typeface="Segoe UI" pitchFamily="34" charset="-120"/>
              </a:rPr>
              <a:t>INTERNSHIP CREDENTIALS</a:t>
            </a:r>
            <a:endParaRPr lang="en-US" sz="1100" dirty="0"/>
          </a:p>
        </p:txBody>
      </p:sp>
      <p:sp>
        <p:nvSpPr>
          <p:cNvPr id="12" name="Text 10"/>
          <p:cNvSpPr/>
          <p:nvPr/>
        </p:nvSpPr>
        <p:spPr>
          <a:xfrm>
            <a:off x="6492240" y="3566160"/>
            <a:ext cx="4480560" cy="2103120"/>
          </a:xfrm>
          <a:prstGeom prst="rect">
            <a:avLst/>
          </a:prstGeom>
          <a:noFill/>
          <a:ln/>
        </p:spPr>
        <p:txBody>
          <a:bodyPr wrap="square" rtlCol="0" anchor="ctr"/>
          <a:lstStyle/>
          <a:p>
            <a:pPr marL="0" indent="0">
              <a:lnSpc>
                <a:spcPts val="2200"/>
              </a:lnSpc>
              <a:buNone/>
            </a:pPr>
            <a:r>
              <a:rPr lang="en-US" sz="1200" b="1" dirty="0">
                <a:solidFill>
                  <a:srgbClr val="CBD5E1"/>
                </a:solidFill>
                <a:latin typeface="Segoe UI" pitchFamily="34" charset="0"/>
                <a:ea typeface="Segoe UI" pitchFamily="34" charset="-122"/>
                <a:cs typeface="Segoe UI" pitchFamily="34" charset="-120"/>
              </a:rPr>
              <a:t>Company: </a:t>
            </a:r>
            <a:r>
              <a:rPr lang="en-US" sz="1200" b="1" dirty="0">
                <a:solidFill>
                  <a:srgbClr val="FFFFFF"/>
                </a:solidFill>
                <a:latin typeface="Segoe UI" pitchFamily="34" charset="0"/>
                <a:ea typeface="Segoe UI" pitchFamily="34" charset="-122"/>
                <a:cs typeface="Segoe UI" pitchFamily="34" charset="-120"/>
              </a:rPr>
              <a:t>Amsys Infocom Pvt Ltd
</a:t>
            </a:r>
            <a:r>
              <a:rPr lang="en-US" sz="1200" b="1" dirty="0">
                <a:solidFill>
                  <a:srgbClr val="CBD5E1"/>
                </a:solidFill>
                <a:latin typeface="Segoe UI" pitchFamily="34" charset="0"/>
                <a:ea typeface="Segoe UI" pitchFamily="34" charset="-122"/>
                <a:cs typeface="Segoe UI" pitchFamily="34" charset="-120"/>
              </a:rPr>
              <a:t>Location: </a:t>
            </a:r>
            <a:r>
              <a:rPr lang="en-US" sz="1200" dirty="0">
                <a:solidFill>
                  <a:srgbClr val="E2E8F0"/>
                </a:solidFill>
                <a:latin typeface="Segoe UI" pitchFamily="34" charset="0"/>
                <a:ea typeface="Segoe UI" pitchFamily="34" charset="-122"/>
                <a:cs typeface="Segoe UI" pitchFamily="34" charset="-120"/>
              </a:rPr>
              <a:t>Devsha Business Park, Sector-63, Noida, UP
</a:t>
            </a:r>
            <a:r>
              <a:rPr lang="en-US" sz="1200" b="1" dirty="0">
                <a:solidFill>
                  <a:srgbClr val="CBD5E1"/>
                </a:solidFill>
                <a:latin typeface="Segoe UI" pitchFamily="34" charset="0"/>
                <a:ea typeface="Segoe UI" pitchFamily="34" charset="-122"/>
                <a:cs typeface="Segoe UI" pitchFamily="34" charset="-120"/>
              </a:rPr>
              <a:t>Duration: </a:t>
            </a:r>
            <a:r>
              <a:rPr lang="en-US" sz="1200" dirty="0">
                <a:solidFill>
                  <a:srgbClr val="E2E8F0"/>
                </a:solidFill>
                <a:latin typeface="Segoe UI" pitchFamily="34" charset="0"/>
                <a:ea typeface="Segoe UI" pitchFamily="34" charset="-122"/>
                <a:cs typeface="Segoe UI" pitchFamily="34" charset="-120"/>
              </a:rPr>
              <a:t>1st July 2026 – 31st July 2026 (4 Weeks)
</a:t>
            </a:r>
            <a:r>
              <a:rPr lang="en-US" sz="1200" b="1" dirty="0">
                <a:solidFill>
                  <a:srgbClr val="CBD5E1"/>
                </a:solidFill>
                <a:latin typeface="Segoe UI" pitchFamily="34" charset="0"/>
                <a:ea typeface="Segoe UI" pitchFamily="34" charset="-122"/>
                <a:cs typeface="Segoe UI" pitchFamily="34" charset="-120"/>
              </a:rPr>
              <a:t>Program Manager: </a:t>
            </a:r>
            <a:r>
              <a:rPr lang="en-US" sz="1200" dirty="0">
                <a:solidFill>
                  <a:srgbClr val="E2E8F0"/>
                </a:solidFill>
                <a:latin typeface="Segoe UI" pitchFamily="34" charset="0"/>
                <a:ea typeface="Segoe UI" pitchFamily="34" charset="-122"/>
                <a:cs typeface="Segoe UI" pitchFamily="34" charset="-120"/>
              </a:rPr>
              <a:t>Saurabh Shukla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marL="0" indent="0">
              <a:buNone/>
            </a:pPr>
            <a:r>
              <a:rPr lang="en-US" sz="1000" b="1" dirty="0">
                <a:solidFill>
                  <a:srgbClr val="4F46E5"/>
                </a:solidFill>
                <a:latin typeface="Segoe UI" pitchFamily="34" charset="0"/>
                <a:ea typeface="Segoe UI" pitchFamily="34" charset="-122"/>
                <a:cs typeface="Segoe UI" pitchFamily="34" charset="-120"/>
              </a:rPr>
              <a:t>COMPANY PROFILE</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About Amsys Infocom Pvt. Ltd.</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A premier technology consulting and digital enterprise engineering firm</a:t>
            </a:r>
            <a:endParaRPr lang="en-US" sz="1200" dirty="0"/>
          </a:p>
        </p:txBody>
      </p:sp>
      <p:sp>
        <p:nvSpPr>
          <p:cNvPr id="5" name="Shape 3"/>
          <p:cNvSpPr/>
          <p:nvPr/>
        </p:nvSpPr>
        <p:spPr>
          <a:xfrm>
            <a:off x="9875520" y="365760"/>
            <a:ext cx="1828800" cy="320040"/>
          </a:xfrm>
          <a:prstGeom prst="rect">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marL="0" indent="0" algn="ctr">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3291840" cy="4480560"/>
          </a:xfrm>
          <a:prstGeom prst="rect">
            <a:avLst/>
          </a:prstGeom>
          <a:solidFill>
            <a:srgbClr val="FFFFFF"/>
          </a:solidFill>
          <a:ln w="12700">
            <a:solidFill>
              <a:srgbClr val="E2E8F0"/>
            </a:solidFill>
            <a:prstDash val="solid"/>
          </a:ln>
        </p:spPr>
      </p:sp>
      <p:sp>
        <p:nvSpPr>
          <p:cNvPr id="8" name="Shape 6"/>
          <p:cNvSpPr/>
          <p:nvPr/>
        </p:nvSpPr>
        <p:spPr>
          <a:xfrm>
            <a:off x="1005840" y="1828800"/>
            <a:ext cx="457200" cy="457200"/>
          </a:xfrm>
          <a:prstGeom prst="rect">
            <a:avLst/>
          </a:prstGeom>
          <a:solidFill>
            <a:srgbClr val="EEF2FF"/>
          </a:solidFill>
          <a:ln/>
        </p:spPr>
      </p:sp>
      <p:sp>
        <p:nvSpPr>
          <p:cNvPr id="9" name="Text 7"/>
          <p:cNvSpPr/>
          <p:nvPr/>
        </p:nvSpPr>
        <p:spPr>
          <a:xfrm>
            <a:off x="1005840" y="1828800"/>
            <a:ext cx="457200" cy="45720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0" name="Text 8"/>
          <p:cNvSpPr/>
          <p:nvPr/>
        </p:nvSpPr>
        <p:spPr>
          <a:xfrm>
            <a:off x="1005840" y="2423160"/>
            <a:ext cx="2743200" cy="32004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Corporate Overview</a:t>
            </a:r>
            <a:endParaRPr lang="en-US" sz="1500" dirty="0"/>
          </a:p>
        </p:txBody>
      </p:sp>
      <p:sp>
        <p:nvSpPr>
          <p:cNvPr id="11" name="Text 9"/>
          <p:cNvSpPr/>
          <p:nvPr/>
        </p:nvSpPr>
        <p:spPr>
          <a:xfrm>
            <a:off x="1005840" y="2834640"/>
            <a:ext cx="2743200" cy="2926080"/>
          </a:xfrm>
          <a:prstGeom prst="rect">
            <a:avLst/>
          </a:prstGeom>
          <a:noFill/>
          <a:ln/>
        </p:spPr>
        <p:txBody>
          <a:bodyPr wrap="square" rtlCol="0" anchor="ctr"/>
          <a:lstStyle/>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Organization: Amsys Infocom Private Limited</a:t>
            </a:r>
            <a:endParaRPr lang="en-US" sz="1150" dirty="0"/>
          </a:p>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Corporate HQ: Devsha Business Park, Sector 63, Noida, UP</a:t>
            </a:r>
            <a:endParaRPr lang="en-US" sz="1150" dirty="0"/>
          </a:p>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Digital Presence: www.amsysinfo.com</a:t>
            </a:r>
            <a:endParaRPr lang="en-US" sz="1150" dirty="0"/>
          </a:p>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Mission: Delivering high-impact digital transformation and bespoke enterprise software solutions.</a:t>
            </a:r>
            <a:endParaRPr lang="en-US" sz="1150" dirty="0"/>
          </a:p>
        </p:txBody>
      </p:sp>
      <p:sp>
        <p:nvSpPr>
          <p:cNvPr id="12" name="Shape 10"/>
          <p:cNvSpPr/>
          <p:nvPr/>
        </p:nvSpPr>
        <p:spPr>
          <a:xfrm>
            <a:off x="4389120" y="1554480"/>
            <a:ext cx="3291840" cy="4480560"/>
          </a:xfrm>
          <a:prstGeom prst="rect">
            <a:avLst/>
          </a:prstGeom>
          <a:solidFill>
            <a:srgbClr val="FFFFFF"/>
          </a:solidFill>
          <a:ln w="12700">
            <a:solidFill>
              <a:srgbClr val="E2E8F0"/>
            </a:solidFill>
            <a:prstDash val="solid"/>
          </a:ln>
        </p:spPr>
      </p:sp>
      <p:sp>
        <p:nvSpPr>
          <p:cNvPr id="13" name="Shape 11"/>
          <p:cNvSpPr/>
          <p:nvPr/>
        </p:nvSpPr>
        <p:spPr>
          <a:xfrm>
            <a:off x="4663440" y="1828800"/>
            <a:ext cx="457200" cy="457200"/>
          </a:xfrm>
          <a:prstGeom prst="rect">
            <a:avLst/>
          </a:prstGeom>
          <a:solidFill>
            <a:srgbClr val="F0FDF4"/>
          </a:solidFill>
          <a:ln/>
        </p:spPr>
      </p:sp>
      <p:sp>
        <p:nvSpPr>
          <p:cNvPr id="14" name="Text 12"/>
          <p:cNvSpPr/>
          <p:nvPr/>
        </p:nvSpPr>
        <p:spPr>
          <a:xfrm>
            <a:off x="4663440" y="1828800"/>
            <a:ext cx="457200" cy="45720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5" name="Text 13"/>
          <p:cNvSpPr/>
          <p:nvPr/>
        </p:nvSpPr>
        <p:spPr>
          <a:xfrm>
            <a:off x="4663440" y="2423160"/>
            <a:ext cx="2743200" cy="32004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Domain &amp; Expertise</a:t>
            </a:r>
            <a:endParaRPr lang="en-US" sz="1500" dirty="0"/>
          </a:p>
        </p:txBody>
      </p:sp>
      <p:sp>
        <p:nvSpPr>
          <p:cNvPr id="16" name="Text 14"/>
          <p:cNvSpPr/>
          <p:nvPr/>
        </p:nvSpPr>
        <p:spPr>
          <a:xfrm>
            <a:off x="4663440" y="2834640"/>
            <a:ext cx="2743200" cy="2926080"/>
          </a:xfrm>
          <a:prstGeom prst="rect">
            <a:avLst/>
          </a:prstGeom>
          <a:noFill/>
          <a:ln/>
        </p:spPr>
        <p:txBody>
          <a:bodyPr wrap="square" rtlCol="0" anchor="ctr"/>
          <a:lstStyle/>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Enterprise Web &amp; Cloud Applications</a:t>
            </a:r>
            <a:endParaRPr lang="en-US" sz="1150" dirty="0"/>
          </a:p>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Full-Stack MERN Product Engineering</a:t>
            </a:r>
            <a:endParaRPr lang="en-US" sz="1150" dirty="0"/>
          </a:p>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Secure B2B SaaS Architectures</a:t>
            </a:r>
            <a:endParaRPr lang="en-US" sz="1150" dirty="0"/>
          </a:p>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Microservices &amp; REST API Gateways</a:t>
            </a:r>
            <a:endParaRPr lang="en-US" sz="1150" dirty="0"/>
          </a:p>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Database Optimization &amp; DevOps Automation</a:t>
            </a:r>
            <a:endParaRPr lang="en-US" sz="1150" dirty="0"/>
          </a:p>
        </p:txBody>
      </p:sp>
      <p:sp>
        <p:nvSpPr>
          <p:cNvPr id="17" name="Shape 15"/>
          <p:cNvSpPr/>
          <p:nvPr/>
        </p:nvSpPr>
        <p:spPr>
          <a:xfrm>
            <a:off x="8046720" y="1554480"/>
            <a:ext cx="3383280" cy="4480560"/>
          </a:xfrm>
          <a:prstGeom prst="rect">
            <a:avLst/>
          </a:prstGeom>
          <a:solidFill>
            <a:srgbClr val="FFFFFF"/>
          </a:solidFill>
          <a:ln w="12700">
            <a:solidFill>
              <a:srgbClr val="E2E8F0"/>
            </a:solidFill>
            <a:prstDash val="solid"/>
          </a:ln>
        </p:spPr>
      </p:sp>
      <p:sp>
        <p:nvSpPr>
          <p:cNvPr id="18" name="Shape 16"/>
          <p:cNvSpPr/>
          <p:nvPr/>
        </p:nvSpPr>
        <p:spPr>
          <a:xfrm>
            <a:off x="8321040" y="1828800"/>
            <a:ext cx="457200" cy="457200"/>
          </a:xfrm>
          <a:prstGeom prst="rect">
            <a:avLst/>
          </a:prstGeom>
          <a:solidFill>
            <a:srgbClr val="F8FAFC"/>
          </a:solidFill>
          <a:ln/>
        </p:spPr>
      </p:sp>
      <p:sp>
        <p:nvSpPr>
          <p:cNvPr id="19" name="Text 17"/>
          <p:cNvSpPr/>
          <p:nvPr/>
        </p:nvSpPr>
        <p:spPr>
          <a:xfrm>
            <a:off x="8321040" y="1828800"/>
            <a:ext cx="457200" cy="45720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0" name="Text 18"/>
          <p:cNvSpPr/>
          <p:nvPr/>
        </p:nvSpPr>
        <p:spPr>
          <a:xfrm>
            <a:off x="8321040" y="2423160"/>
            <a:ext cx="2834640" cy="32004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Development Culture</a:t>
            </a:r>
            <a:endParaRPr lang="en-US" sz="1500" dirty="0"/>
          </a:p>
        </p:txBody>
      </p:sp>
      <p:sp>
        <p:nvSpPr>
          <p:cNvPr id="21" name="Text 19"/>
          <p:cNvSpPr/>
          <p:nvPr/>
        </p:nvSpPr>
        <p:spPr>
          <a:xfrm>
            <a:off x="8321040" y="2834640"/>
            <a:ext cx="2834640" cy="2926080"/>
          </a:xfrm>
          <a:prstGeom prst="rect">
            <a:avLst/>
          </a:prstGeom>
          <a:noFill/>
          <a:ln/>
        </p:spPr>
        <p:txBody>
          <a:bodyPr wrap="square" rtlCol="0" anchor="ctr"/>
          <a:lstStyle/>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Agile / Scrum Sprint Workflows</a:t>
            </a:r>
            <a:endParaRPr lang="en-US" sz="1150" dirty="0"/>
          </a:p>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Clean Code &amp; Multi-tier Modular Architecture</a:t>
            </a:r>
            <a:endParaRPr lang="en-US" sz="1150" dirty="0"/>
          </a:p>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Rigorous Security (OAuth, RBAC, JWT)</a:t>
            </a:r>
            <a:endParaRPr lang="en-US" sz="1150" dirty="0"/>
          </a:p>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Continuous Integration &amp; Peer Code Reviews</a:t>
            </a:r>
            <a:endParaRPr lang="en-US" sz="1150" dirty="0"/>
          </a:p>
          <a:p>
            <a:pPr marL="0" indent="0">
              <a:lnSpc>
                <a:spcPts val="2000"/>
              </a:lnSpc>
              <a:buNone/>
            </a:pPr>
            <a:r>
              <a:rPr lang="en-US" sz="1150" dirty="0">
                <a:solidFill>
                  <a:srgbClr val="475569"/>
                </a:solidFill>
                <a:latin typeface="Segoe UI" pitchFamily="34" charset="0"/>
                <a:ea typeface="Segoe UI" pitchFamily="34" charset="-122"/>
                <a:cs typeface="Segoe UI" pitchFamily="34" charset="-120"/>
              </a:rPr>
              <a:t>• Focus on High Performance &amp; Scalability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marL="0" indent="0">
              <a:buNone/>
            </a:pPr>
            <a:r>
              <a:rPr lang="en-US" sz="1000" b="1" dirty="0">
                <a:solidFill>
                  <a:srgbClr val="4F46E5"/>
                </a:solidFill>
                <a:latin typeface="Segoe UI" pitchFamily="34" charset="0"/>
                <a:ea typeface="Segoe UI" pitchFamily="34" charset="-122"/>
                <a:cs typeface="Segoe UI" pitchFamily="34" charset="-120"/>
              </a:rPr>
              <a:t>INTERNSHIP SCOPE</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Internship Role, Objectives &amp; Responsibilities</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Structured 4-week engagement in full-stack software development</a:t>
            </a:r>
            <a:endParaRPr lang="en-US" sz="1200" dirty="0"/>
          </a:p>
        </p:txBody>
      </p:sp>
      <p:sp>
        <p:nvSpPr>
          <p:cNvPr id="5" name="Shape 3"/>
          <p:cNvSpPr/>
          <p:nvPr/>
        </p:nvSpPr>
        <p:spPr>
          <a:xfrm>
            <a:off x="9875520" y="365760"/>
            <a:ext cx="1828800" cy="320040"/>
          </a:xfrm>
          <a:prstGeom prst="rect">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marL="0" indent="0" algn="ctr">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10698480" cy="914400"/>
          </a:xfrm>
          <a:prstGeom prst="rect">
            <a:avLst/>
          </a:prstGeom>
          <a:solidFill>
            <a:srgbClr val="0F172A"/>
          </a:solidFill>
          <a:ln/>
        </p:spPr>
      </p:sp>
      <p:sp>
        <p:nvSpPr>
          <p:cNvPr id="8" name="Text 6"/>
          <p:cNvSpPr/>
          <p:nvPr/>
        </p:nvSpPr>
        <p:spPr>
          <a:xfrm>
            <a:off x="1005840" y="1645920"/>
            <a:ext cx="10058400" cy="274320"/>
          </a:xfrm>
          <a:prstGeom prst="rect">
            <a:avLst/>
          </a:prstGeom>
          <a:noFill/>
          <a:ln/>
        </p:spPr>
        <p:txBody>
          <a:bodyPr wrap="square" rtlCol="0" anchor="ctr"/>
          <a:lstStyle/>
          <a:p>
            <a:pPr marL="0" indent="0">
              <a:buNone/>
            </a:pPr>
            <a:r>
              <a:rPr lang="en-US" sz="1200" b="1" dirty="0">
                <a:solidFill>
                  <a:srgbClr val="38BDF8"/>
                </a:solidFill>
                <a:latin typeface="Segoe UI" pitchFamily="34" charset="0"/>
                <a:ea typeface="Segoe UI" pitchFamily="34" charset="-122"/>
                <a:cs typeface="Segoe UI" pitchFamily="34" charset="-120"/>
              </a:rPr>
              <a:t>Role: MERN Stack Developer Intern   |   Department: Software Development   |   Duration: 4 Weeks</a:t>
            </a:r>
            <a:endParaRPr lang="en-US" sz="1200" dirty="0"/>
          </a:p>
        </p:txBody>
      </p:sp>
      <p:sp>
        <p:nvSpPr>
          <p:cNvPr id="9" name="Text 7"/>
          <p:cNvSpPr/>
          <p:nvPr/>
        </p:nvSpPr>
        <p:spPr>
          <a:xfrm>
            <a:off x="1005840" y="1965960"/>
            <a:ext cx="10058400" cy="320040"/>
          </a:xfrm>
          <a:prstGeom prst="rect">
            <a:avLst/>
          </a:prstGeom>
          <a:noFill/>
          <a:ln/>
        </p:spPr>
        <p:txBody>
          <a:bodyPr wrap="square" rtlCol="0" anchor="ctr"/>
          <a:lstStyle/>
          <a:p>
            <a:pPr marL="0" indent="0">
              <a:buNone/>
            </a:pPr>
            <a:r>
              <a:rPr lang="en-US" sz="1100" dirty="0">
                <a:solidFill>
                  <a:srgbClr val="CBD5E1"/>
                </a:solidFill>
                <a:latin typeface="Segoe UI" pitchFamily="34" charset="0"/>
                <a:ea typeface="Segoe UI" pitchFamily="34" charset="-122"/>
                <a:cs typeface="Segoe UI" pitchFamily="34" charset="-120"/>
              </a:rPr>
              <a:t>Mentorship &amp; Evaluation: Under the guidance of Saurabh Shukla (Program Manager) &amp; Senior Engineering Leads</a:t>
            </a:r>
            <a:endParaRPr lang="en-US" sz="1100" dirty="0"/>
          </a:p>
        </p:txBody>
      </p:sp>
      <p:sp>
        <p:nvSpPr>
          <p:cNvPr id="10" name="Shape 8"/>
          <p:cNvSpPr/>
          <p:nvPr/>
        </p:nvSpPr>
        <p:spPr>
          <a:xfrm>
            <a:off x="731520" y="2651760"/>
            <a:ext cx="5212080" cy="3474720"/>
          </a:xfrm>
          <a:prstGeom prst="rect">
            <a:avLst/>
          </a:prstGeom>
          <a:solidFill>
            <a:srgbClr val="FFFFFF"/>
          </a:solidFill>
          <a:ln w="12700">
            <a:solidFill>
              <a:srgbClr val="E2E8F0"/>
            </a:solidFill>
            <a:prstDash val="solid"/>
          </a:ln>
        </p:spPr>
      </p:sp>
      <p:sp>
        <p:nvSpPr>
          <p:cNvPr id="11" name="Text 9"/>
          <p:cNvSpPr/>
          <p:nvPr/>
        </p:nvSpPr>
        <p:spPr>
          <a:xfrm>
            <a:off x="1005840" y="2834640"/>
            <a:ext cx="4663440" cy="320040"/>
          </a:xfrm>
          <a:prstGeom prst="rect">
            <a:avLst/>
          </a:prstGeom>
          <a:noFill/>
          <a:ln/>
        </p:spPr>
        <p:txBody>
          <a:bodyPr wrap="square" rtlCol="0" anchor="ctr"/>
          <a:lstStyle/>
          <a:p>
            <a:pPr marL="0" indent="0">
              <a:buNone/>
            </a:pPr>
            <a:r>
              <a:rPr lang="en-US" sz="1400" b="1" dirty="0">
                <a:solidFill>
                  <a:srgbClr val="4F46E5"/>
                </a:solidFill>
                <a:latin typeface="Segoe UI" pitchFamily="34" charset="0"/>
                <a:ea typeface="Segoe UI" pitchFamily="34" charset="-122"/>
                <a:cs typeface="Segoe UI" pitchFamily="34" charset="-120"/>
              </a:rPr>
              <a:t>🎯 Core Internship Objectives</a:t>
            </a:r>
            <a:endParaRPr lang="en-US" sz="1400" dirty="0"/>
          </a:p>
        </p:txBody>
      </p:sp>
      <p:sp>
        <p:nvSpPr>
          <p:cNvPr id="12" name="Text 10"/>
          <p:cNvSpPr/>
          <p:nvPr/>
        </p:nvSpPr>
        <p:spPr>
          <a:xfrm>
            <a:off x="1005840" y="3246120"/>
            <a:ext cx="4663440" cy="2651760"/>
          </a:xfrm>
          <a:prstGeom prst="rect">
            <a:avLst/>
          </a:prstGeom>
          <a:noFill/>
          <a:ln/>
        </p:spPr>
        <p:txBody>
          <a:bodyPr wrap="square" rtlCol="0" anchor="ctr"/>
          <a:lstStyle/>
          <a:p>
            <a:pPr marL="0" indent="0">
              <a:lnSpc>
                <a:spcPts val="1800"/>
              </a:lnSpc>
              <a:buNone/>
            </a:pPr>
            <a:r>
              <a:rPr lang="en-US" sz="1100" dirty="0">
                <a:solidFill>
                  <a:srgbClr val="475569"/>
                </a:solidFill>
                <a:latin typeface="Segoe UI" pitchFamily="34" charset="0"/>
                <a:ea typeface="Segoe UI" pitchFamily="34" charset="-122"/>
                <a:cs typeface="Segoe UI" pitchFamily="34" charset="-120"/>
              </a:rPr>
              <a:t>1. Develop an enterprise-ready operations platform connecting workspaces, epics, and tasks.</a:t>
            </a:r>
            <a:endParaRPr lang="en-US" sz="1100" dirty="0"/>
          </a:p>
          <a:p>
            <a:pPr marL="0" indent="0">
              <a:lnSpc>
                <a:spcPts val="1800"/>
              </a:lnSpc>
              <a:buNone/>
            </a:pPr>
            <a:r>
              <a:rPr lang="en-US" sz="1100" dirty="0">
                <a:solidFill>
                  <a:srgbClr val="475569"/>
                </a:solidFill>
                <a:latin typeface="Segoe UI" pitchFamily="34" charset="0"/>
                <a:ea typeface="Segoe UI" pitchFamily="34" charset="-122"/>
                <a:cs typeface="Segoe UI" pitchFamily="34" charset="-120"/>
              </a:rPr>
              <a:t>2. Engineer secure RESTful APIs using Node.js, Express 5, and Mongoose with Zod schema validation.</a:t>
            </a:r>
            <a:endParaRPr lang="en-US" sz="1100" dirty="0"/>
          </a:p>
          <a:p>
            <a:pPr marL="0" indent="0">
              <a:lnSpc>
                <a:spcPts val="1800"/>
              </a:lnSpc>
              <a:buNone/>
            </a:pPr>
            <a:r>
              <a:rPr lang="en-US" sz="1100" dirty="0">
                <a:solidFill>
                  <a:srgbClr val="475569"/>
                </a:solidFill>
                <a:latin typeface="Segoe UI" pitchFamily="34" charset="0"/>
                <a:ea typeface="Segoe UI" pitchFamily="34" charset="-122"/>
                <a:cs typeface="Segoe UI" pitchFamily="34" charset="-120"/>
              </a:rPr>
              <a:t>3. Implement multi-tenant workspace isolation with role-based access control (RBAC).</a:t>
            </a:r>
            <a:endParaRPr lang="en-US" sz="1100" dirty="0"/>
          </a:p>
          <a:p>
            <a:pPr marL="0" indent="0">
              <a:lnSpc>
                <a:spcPts val="1800"/>
              </a:lnSpc>
              <a:buNone/>
            </a:pPr>
            <a:r>
              <a:rPr lang="en-US" sz="1100" dirty="0">
                <a:solidFill>
                  <a:srgbClr val="475569"/>
                </a:solidFill>
                <a:latin typeface="Segoe UI" pitchFamily="34" charset="0"/>
                <a:ea typeface="Segoe UI" pitchFamily="34" charset="-122"/>
                <a:cs typeface="Segoe UI" pitchFamily="34" charset="-120"/>
              </a:rPr>
              <a:t>4. Build an interactive, responsive React frontend featuring Kanban boards and real-time activity feeds.</a:t>
            </a:r>
            <a:endParaRPr lang="en-US" sz="1100" dirty="0"/>
          </a:p>
          <a:p>
            <a:pPr marL="0" indent="0">
              <a:lnSpc>
                <a:spcPts val="1800"/>
              </a:lnSpc>
              <a:buNone/>
            </a:pPr>
            <a:r>
              <a:rPr lang="en-US" sz="1100" dirty="0">
                <a:solidFill>
                  <a:srgbClr val="475569"/>
                </a:solidFill>
                <a:latin typeface="Segoe UI" pitchFamily="34" charset="0"/>
                <a:ea typeface="Segoe UI" pitchFamily="34" charset="-122"/>
                <a:cs typeface="Segoe UI" pitchFamily="34" charset="-120"/>
              </a:rPr>
              <a:t>5. Ensure production-grade reliability via error handling and automated database seeding.</a:t>
            </a:r>
            <a:endParaRPr lang="en-US" sz="1100" dirty="0"/>
          </a:p>
        </p:txBody>
      </p:sp>
      <p:sp>
        <p:nvSpPr>
          <p:cNvPr id="13" name="Shape 11"/>
          <p:cNvSpPr/>
          <p:nvPr/>
        </p:nvSpPr>
        <p:spPr>
          <a:xfrm>
            <a:off x="6217920" y="2651760"/>
            <a:ext cx="5212080" cy="3474720"/>
          </a:xfrm>
          <a:prstGeom prst="rect">
            <a:avLst/>
          </a:prstGeom>
          <a:solidFill>
            <a:srgbClr val="FFFFFF"/>
          </a:solidFill>
          <a:ln w="12700">
            <a:solidFill>
              <a:srgbClr val="E2E8F0"/>
            </a:solidFill>
            <a:prstDash val="solid"/>
          </a:ln>
        </p:spPr>
      </p:sp>
      <p:sp>
        <p:nvSpPr>
          <p:cNvPr id="14" name="Text 12"/>
          <p:cNvSpPr/>
          <p:nvPr/>
        </p:nvSpPr>
        <p:spPr>
          <a:xfrm>
            <a:off x="6492240" y="2834640"/>
            <a:ext cx="4663440" cy="320040"/>
          </a:xfrm>
          <a:prstGeom prst="rect">
            <a:avLst/>
          </a:prstGeom>
          <a:noFill/>
          <a:ln/>
        </p:spPr>
        <p:txBody>
          <a:bodyPr wrap="square" rtlCol="0" anchor="ctr"/>
          <a:lstStyle/>
          <a:p>
            <a:pPr marL="0" indent="0">
              <a:buNone/>
            </a:pPr>
            <a:r>
              <a:rPr lang="en-US" sz="1400" b="1" dirty="0">
                <a:solidFill>
                  <a:srgbClr val="059669"/>
                </a:solidFill>
                <a:latin typeface="Segoe UI" pitchFamily="34" charset="0"/>
                <a:ea typeface="Segoe UI" pitchFamily="34" charset="-122"/>
                <a:cs typeface="Segoe UI" pitchFamily="34" charset="-120"/>
              </a:rPr>
              <a:t>📋 Primary Responsibilities</a:t>
            </a:r>
            <a:endParaRPr lang="en-US" sz="1400" dirty="0"/>
          </a:p>
        </p:txBody>
      </p:sp>
      <p:sp>
        <p:nvSpPr>
          <p:cNvPr id="15" name="Text 13"/>
          <p:cNvSpPr/>
          <p:nvPr/>
        </p:nvSpPr>
        <p:spPr>
          <a:xfrm>
            <a:off x="6492240" y="3246120"/>
            <a:ext cx="4663440" cy="2651760"/>
          </a:xfrm>
          <a:prstGeom prst="rect">
            <a:avLst/>
          </a:prstGeom>
          <a:noFill/>
          <a:ln/>
        </p:spPr>
        <p:txBody>
          <a:bodyPr wrap="square" rtlCol="0" anchor="ctr"/>
          <a:lstStyle/>
          <a:p>
            <a:pPr marL="0" indent="0">
              <a:lnSpc>
                <a:spcPts val="1800"/>
              </a:lnSpc>
              <a:buNone/>
            </a:pPr>
            <a:r>
              <a:rPr lang="en-US" sz="1100" dirty="0">
                <a:solidFill>
                  <a:srgbClr val="475569"/>
                </a:solidFill>
                <a:latin typeface="Segoe UI" pitchFamily="34" charset="0"/>
                <a:ea typeface="Segoe UI" pitchFamily="34" charset="-122"/>
                <a:cs typeface="Segoe UI" pitchFamily="34" charset="-120"/>
              </a:rPr>
              <a:t>1. Architecture &amp; Schema Design: Modeled 9 relational collections in MongoDB Atlas.</a:t>
            </a:r>
            <a:endParaRPr lang="en-US" sz="1100" dirty="0"/>
          </a:p>
          <a:p>
            <a:pPr marL="0" indent="0">
              <a:lnSpc>
                <a:spcPts val="1800"/>
              </a:lnSpc>
              <a:buNone/>
            </a:pPr>
            <a:r>
              <a:rPr lang="en-US" sz="1100" dirty="0">
                <a:solidFill>
                  <a:srgbClr val="475569"/>
                </a:solidFill>
                <a:latin typeface="Segoe UI" pitchFamily="34" charset="0"/>
                <a:ea typeface="Segoe UI" pitchFamily="34" charset="-122"/>
                <a:cs typeface="Segoe UI" pitchFamily="34" charset="-120"/>
              </a:rPr>
              <a:t>2. API Route &amp; Middleware Implementation: Developed 11 core API modules with JWT and session auth.</a:t>
            </a:r>
            <a:endParaRPr lang="en-US" sz="1100" dirty="0"/>
          </a:p>
          <a:p>
            <a:pPr marL="0" indent="0">
              <a:lnSpc>
                <a:spcPts val="1800"/>
              </a:lnSpc>
              <a:buNone/>
            </a:pPr>
            <a:r>
              <a:rPr lang="en-US" sz="1100" dirty="0">
                <a:solidFill>
                  <a:srgbClr val="475569"/>
                </a:solidFill>
                <a:latin typeface="Segoe UI" pitchFamily="34" charset="0"/>
                <a:ea typeface="Segoe UI" pitchFamily="34" charset="-122"/>
                <a:cs typeface="Segoe UI" pitchFamily="34" charset="-120"/>
              </a:rPr>
              <a:t>3. Component Engineering: Built reusable UI components (Kanban lanes, analytics cards, modals) with React 18.</a:t>
            </a:r>
            <a:endParaRPr lang="en-US" sz="1100" dirty="0"/>
          </a:p>
          <a:p>
            <a:pPr marL="0" indent="0">
              <a:lnSpc>
                <a:spcPts val="1800"/>
              </a:lnSpc>
              <a:buNone/>
            </a:pPr>
            <a:r>
              <a:rPr lang="en-US" sz="1100" dirty="0">
                <a:solidFill>
                  <a:srgbClr val="475569"/>
                </a:solidFill>
                <a:latin typeface="Segoe UI" pitchFamily="34" charset="0"/>
                <a:ea typeface="Segoe UI" pitchFamily="34" charset="-122"/>
                <a:cs typeface="Segoe UI" pitchFamily="34" charset="-120"/>
              </a:rPr>
              <a:t>4. Quality Assurance: Tested endpoints using seed verifications, CastError/validation error handlers.</a:t>
            </a:r>
            <a:endParaRPr lang="en-US" sz="1100" dirty="0"/>
          </a:p>
          <a:p>
            <a:pPr marL="0" indent="0">
              <a:lnSpc>
                <a:spcPts val="1800"/>
              </a:lnSpc>
              <a:buNone/>
            </a:pPr>
            <a:r>
              <a:rPr lang="en-US" sz="1100" dirty="0">
                <a:solidFill>
                  <a:srgbClr val="475569"/>
                </a:solidFill>
                <a:latin typeface="Segoe UI" pitchFamily="34" charset="0"/>
                <a:ea typeface="Segoe UI" pitchFamily="34" charset="-122"/>
                <a:cs typeface="Segoe UI" pitchFamily="34" charset="-120"/>
              </a:rPr>
              <a:t>5. Technical Documentation: Maintained API specifications, environment configs, and code reviews.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marL="0" indent="0">
              <a:buNone/>
            </a:pPr>
            <a:r>
              <a:rPr lang="en-US" sz="1000" b="1" dirty="0">
                <a:solidFill>
                  <a:srgbClr val="4F46E5"/>
                </a:solidFill>
                <a:latin typeface="Segoe UI" pitchFamily="34" charset="0"/>
                <a:ea typeface="Segoe UI" pitchFamily="34" charset="-122"/>
                <a:cs typeface="Segoe UI" pitchFamily="34" charset="-120"/>
              </a:rPr>
              <a:t>THE PROBLEM</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Problem Statement &amp; Industry Challenges</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Addressing operational friction and tool fragmentation in modern tech teams</a:t>
            </a:r>
            <a:endParaRPr lang="en-US" sz="1200" dirty="0"/>
          </a:p>
        </p:txBody>
      </p:sp>
      <p:sp>
        <p:nvSpPr>
          <p:cNvPr id="5" name="Shape 3"/>
          <p:cNvSpPr/>
          <p:nvPr/>
        </p:nvSpPr>
        <p:spPr>
          <a:xfrm>
            <a:off x="9875520" y="365760"/>
            <a:ext cx="1828800" cy="320040"/>
          </a:xfrm>
          <a:prstGeom prst="rect">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marL="0" indent="0" algn="ctr">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2468880" cy="4389120"/>
          </a:xfrm>
          <a:prstGeom prst="rect">
            <a:avLst/>
          </a:prstGeom>
          <a:solidFill>
            <a:srgbClr val="FFFFFF"/>
          </a:solidFill>
          <a:ln w="12700">
            <a:solidFill>
              <a:srgbClr val="E2E8F0"/>
            </a:solidFill>
            <a:prstDash val="solid"/>
          </a:ln>
        </p:spPr>
      </p:sp>
      <p:sp>
        <p:nvSpPr>
          <p:cNvPr id="8" name="Text 6"/>
          <p:cNvSpPr/>
          <p:nvPr/>
        </p:nvSpPr>
        <p:spPr>
          <a:xfrm>
            <a:off x="914400" y="1828800"/>
            <a:ext cx="2103120" cy="457200"/>
          </a:xfrm>
          <a:prstGeom prst="rect">
            <a:avLst/>
          </a:prstGeom>
          <a:noFill/>
          <a:ln/>
        </p:spPr>
        <p:txBody>
          <a:bodyPr wrap="square" rtlCol="0" anchor="ctr"/>
          <a:lstStyle/>
          <a:p>
            <a:pPr marL="0" indent="0">
              <a:buNone/>
            </a:pPr>
            <a:r>
              <a:rPr lang="en-US" sz="2400" b="1" dirty="0">
                <a:solidFill>
                  <a:srgbClr val="EF4444"/>
                </a:solidFill>
                <a:latin typeface="Segoe UI" pitchFamily="34" charset="0"/>
                <a:ea typeface="Segoe UI" pitchFamily="34" charset="-122"/>
                <a:cs typeface="Segoe UI" pitchFamily="34" charset="-120"/>
              </a:rPr>
              <a:t>01</a:t>
            </a:r>
            <a:endParaRPr lang="en-US" sz="2400" dirty="0"/>
          </a:p>
        </p:txBody>
      </p:sp>
      <p:sp>
        <p:nvSpPr>
          <p:cNvPr id="9" name="Text 7"/>
          <p:cNvSpPr/>
          <p:nvPr/>
        </p:nvSpPr>
        <p:spPr>
          <a:xfrm>
            <a:off x="914400" y="2423160"/>
            <a:ext cx="2103120" cy="594360"/>
          </a:xfrm>
          <a:prstGeom prst="rect">
            <a:avLst/>
          </a:prstGeom>
          <a:noFill/>
          <a:ln/>
        </p:spPr>
        <p:txBody>
          <a:bodyPr wrap="square"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Tool Sprawl &amp; Fragmentation</a:t>
            </a:r>
            <a:endParaRPr lang="en-US" sz="1300" dirty="0"/>
          </a:p>
        </p:txBody>
      </p:sp>
      <p:sp>
        <p:nvSpPr>
          <p:cNvPr id="10" name="Text 8"/>
          <p:cNvSpPr/>
          <p:nvPr/>
        </p:nvSpPr>
        <p:spPr>
          <a:xfrm>
            <a:off x="914400" y="3108960"/>
            <a:ext cx="2103120" cy="2560320"/>
          </a:xfrm>
          <a:prstGeom prst="rect">
            <a:avLst/>
          </a:prstGeom>
          <a:noFill/>
          <a:ln/>
        </p:spPr>
        <p:txBody>
          <a:bodyPr wrap="square" rtlCol="0" anchor="ctr"/>
          <a:lstStyle/>
          <a:p>
            <a:pPr marL="0" indent="0">
              <a:lnSpc>
                <a:spcPts val="1700"/>
              </a:lnSpc>
              <a:buNone/>
            </a:pPr>
            <a:r>
              <a:rPr lang="en-US" sz="1100" dirty="0">
                <a:solidFill>
                  <a:srgbClr val="475569"/>
                </a:solidFill>
                <a:latin typeface="Segoe UI" pitchFamily="34" charset="0"/>
                <a:ea typeface="Segoe UI" pitchFamily="34" charset="-122"/>
                <a:cs typeface="Segoe UI" pitchFamily="34" charset="-120"/>
              </a:rPr>
              <a:t>Companies juggle separate tools for task tracking, team communication, sprint planning, and activity auditing. This creates friction, context switching, and lost productivity.</a:t>
            </a:r>
            <a:endParaRPr lang="en-US" sz="1100" dirty="0"/>
          </a:p>
        </p:txBody>
      </p:sp>
      <p:sp>
        <p:nvSpPr>
          <p:cNvPr id="11" name="Shape 9"/>
          <p:cNvSpPr/>
          <p:nvPr/>
        </p:nvSpPr>
        <p:spPr>
          <a:xfrm>
            <a:off x="3474720" y="1554480"/>
            <a:ext cx="2468880" cy="4389120"/>
          </a:xfrm>
          <a:prstGeom prst="rect">
            <a:avLst/>
          </a:prstGeom>
          <a:solidFill>
            <a:srgbClr val="FFFFFF"/>
          </a:solidFill>
          <a:ln w="12700">
            <a:solidFill>
              <a:srgbClr val="E2E8F0"/>
            </a:solidFill>
            <a:prstDash val="solid"/>
          </a:ln>
        </p:spPr>
      </p:sp>
      <p:sp>
        <p:nvSpPr>
          <p:cNvPr id="12" name="Text 10"/>
          <p:cNvSpPr/>
          <p:nvPr/>
        </p:nvSpPr>
        <p:spPr>
          <a:xfrm>
            <a:off x="3657600" y="1828800"/>
            <a:ext cx="2103120" cy="457200"/>
          </a:xfrm>
          <a:prstGeom prst="rect">
            <a:avLst/>
          </a:prstGeom>
          <a:noFill/>
          <a:ln/>
        </p:spPr>
        <p:txBody>
          <a:bodyPr wrap="square" rtlCol="0" anchor="ctr"/>
          <a:lstStyle/>
          <a:p>
            <a:pPr marL="0" indent="0">
              <a:buNone/>
            </a:pPr>
            <a:r>
              <a:rPr lang="en-US" sz="2400" b="1" dirty="0">
                <a:solidFill>
                  <a:srgbClr val="F59E0B"/>
                </a:solidFill>
                <a:latin typeface="Segoe UI" pitchFamily="34" charset="0"/>
                <a:ea typeface="Segoe UI" pitchFamily="34" charset="-122"/>
                <a:cs typeface="Segoe UI" pitchFamily="34" charset="-120"/>
              </a:rPr>
              <a:t>02</a:t>
            </a:r>
            <a:endParaRPr lang="en-US" sz="2400" dirty="0"/>
          </a:p>
        </p:txBody>
      </p:sp>
      <p:sp>
        <p:nvSpPr>
          <p:cNvPr id="13" name="Text 11"/>
          <p:cNvSpPr/>
          <p:nvPr/>
        </p:nvSpPr>
        <p:spPr>
          <a:xfrm>
            <a:off x="3657600" y="2423160"/>
            <a:ext cx="2103120" cy="594360"/>
          </a:xfrm>
          <a:prstGeom prst="rect">
            <a:avLst/>
          </a:prstGeom>
          <a:noFill/>
          <a:ln/>
        </p:spPr>
        <p:txBody>
          <a:bodyPr wrap="square"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Multi-Tenancy &amp; Data Isolation</a:t>
            </a:r>
            <a:endParaRPr lang="en-US" sz="1300" dirty="0"/>
          </a:p>
        </p:txBody>
      </p:sp>
      <p:sp>
        <p:nvSpPr>
          <p:cNvPr id="14" name="Text 12"/>
          <p:cNvSpPr/>
          <p:nvPr/>
        </p:nvSpPr>
        <p:spPr>
          <a:xfrm>
            <a:off x="3657600" y="3108960"/>
            <a:ext cx="2103120" cy="2560320"/>
          </a:xfrm>
          <a:prstGeom prst="rect">
            <a:avLst/>
          </a:prstGeom>
          <a:noFill/>
          <a:ln/>
        </p:spPr>
        <p:txBody>
          <a:bodyPr wrap="square" rtlCol="0" anchor="ctr"/>
          <a:lstStyle/>
          <a:p>
            <a:pPr marL="0" indent="0">
              <a:lnSpc>
                <a:spcPts val="1700"/>
              </a:lnSpc>
              <a:buNone/>
            </a:pPr>
            <a:r>
              <a:rPr lang="en-US" sz="1100" dirty="0">
                <a:solidFill>
                  <a:srgbClr val="475569"/>
                </a:solidFill>
                <a:latin typeface="Segoe UI" pitchFamily="34" charset="0"/>
                <a:ea typeface="Segoe UI" pitchFamily="34" charset="-122"/>
                <a:cs typeface="Segoe UI" pitchFamily="34" charset="-120"/>
              </a:rPr>
              <a:t>Cross-functional organizations require strict separation between departments and clients. Without secure multi-tenant isolation, data leakage and permission clashes occur.</a:t>
            </a:r>
            <a:endParaRPr lang="en-US" sz="1100" dirty="0"/>
          </a:p>
        </p:txBody>
      </p:sp>
      <p:sp>
        <p:nvSpPr>
          <p:cNvPr id="15" name="Shape 13"/>
          <p:cNvSpPr/>
          <p:nvPr/>
        </p:nvSpPr>
        <p:spPr>
          <a:xfrm>
            <a:off x="6217920" y="1554480"/>
            <a:ext cx="2468880" cy="4389120"/>
          </a:xfrm>
          <a:prstGeom prst="rect">
            <a:avLst/>
          </a:prstGeom>
          <a:solidFill>
            <a:srgbClr val="FFFFFF"/>
          </a:solidFill>
          <a:ln w="12700">
            <a:solidFill>
              <a:srgbClr val="E2E8F0"/>
            </a:solidFill>
            <a:prstDash val="solid"/>
          </a:ln>
        </p:spPr>
      </p:sp>
      <p:sp>
        <p:nvSpPr>
          <p:cNvPr id="16" name="Text 14"/>
          <p:cNvSpPr/>
          <p:nvPr/>
        </p:nvSpPr>
        <p:spPr>
          <a:xfrm>
            <a:off x="6400800" y="1828800"/>
            <a:ext cx="2103120" cy="457200"/>
          </a:xfrm>
          <a:prstGeom prst="rect">
            <a:avLst/>
          </a:prstGeom>
          <a:noFill/>
          <a:ln/>
        </p:spPr>
        <p:txBody>
          <a:bodyPr wrap="square" rtlCol="0" anchor="ctr"/>
          <a:lstStyle/>
          <a:p>
            <a:pPr marL="0" indent="0">
              <a:buNone/>
            </a:pPr>
            <a:r>
              <a:rPr lang="en-US" sz="2400" b="1" dirty="0">
                <a:solidFill>
                  <a:srgbClr val="6366F1"/>
                </a:solidFill>
                <a:latin typeface="Segoe UI" pitchFamily="34" charset="0"/>
                <a:ea typeface="Segoe UI" pitchFamily="34" charset="-122"/>
                <a:cs typeface="Segoe UI" pitchFamily="34" charset="-120"/>
              </a:rPr>
              <a:t>03</a:t>
            </a:r>
            <a:endParaRPr lang="en-US" sz="2400" dirty="0"/>
          </a:p>
        </p:txBody>
      </p:sp>
      <p:sp>
        <p:nvSpPr>
          <p:cNvPr id="17" name="Text 15"/>
          <p:cNvSpPr/>
          <p:nvPr/>
        </p:nvSpPr>
        <p:spPr>
          <a:xfrm>
            <a:off x="6400800" y="2423160"/>
            <a:ext cx="2103120" cy="594360"/>
          </a:xfrm>
          <a:prstGeom prst="rect">
            <a:avLst/>
          </a:prstGeom>
          <a:noFill/>
          <a:ln/>
        </p:spPr>
        <p:txBody>
          <a:bodyPr wrap="square"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Lack of Real-Time Visibility</a:t>
            </a:r>
            <a:endParaRPr lang="en-US" sz="1300" dirty="0"/>
          </a:p>
        </p:txBody>
      </p:sp>
      <p:sp>
        <p:nvSpPr>
          <p:cNvPr id="18" name="Text 16"/>
          <p:cNvSpPr/>
          <p:nvPr/>
        </p:nvSpPr>
        <p:spPr>
          <a:xfrm>
            <a:off x="6400800" y="3108960"/>
            <a:ext cx="2103120" cy="2560320"/>
          </a:xfrm>
          <a:prstGeom prst="rect">
            <a:avLst/>
          </a:prstGeom>
          <a:noFill/>
          <a:ln/>
        </p:spPr>
        <p:txBody>
          <a:bodyPr wrap="square" rtlCol="0" anchor="ctr"/>
          <a:lstStyle/>
          <a:p>
            <a:pPr marL="0" indent="0">
              <a:lnSpc>
                <a:spcPts val="1700"/>
              </a:lnSpc>
              <a:buNone/>
            </a:pPr>
            <a:r>
              <a:rPr lang="en-US" sz="1100" dirty="0">
                <a:solidFill>
                  <a:srgbClr val="475569"/>
                </a:solidFill>
                <a:latin typeface="Segoe UI" pitchFamily="34" charset="0"/>
                <a:ea typeface="Segoe UI" pitchFamily="34" charset="-122"/>
                <a:cs typeface="Segoe UI" pitchFamily="34" charset="-120"/>
              </a:rPr>
              <a:t>Project managers lack live visibility into task progression, bottleneck identification, epic completion rates, and chronological audit streams across distributed teams.</a:t>
            </a:r>
            <a:endParaRPr lang="en-US" sz="1100" dirty="0"/>
          </a:p>
        </p:txBody>
      </p:sp>
      <p:sp>
        <p:nvSpPr>
          <p:cNvPr id="19" name="Shape 17"/>
          <p:cNvSpPr/>
          <p:nvPr/>
        </p:nvSpPr>
        <p:spPr>
          <a:xfrm>
            <a:off x="8961120" y="1554480"/>
            <a:ext cx="2468880" cy="4389120"/>
          </a:xfrm>
          <a:prstGeom prst="rect">
            <a:avLst/>
          </a:prstGeom>
          <a:solidFill>
            <a:srgbClr val="FFFFFF"/>
          </a:solidFill>
          <a:ln w="12700">
            <a:solidFill>
              <a:srgbClr val="E2E8F0"/>
            </a:solidFill>
            <a:prstDash val="solid"/>
          </a:ln>
        </p:spPr>
      </p:sp>
      <p:sp>
        <p:nvSpPr>
          <p:cNvPr id="20" name="Text 18"/>
          <p:cNvSpPr/>
          <p:nvPr/>
        </p:nvSpPr>
        <p:spPr>
          <a:xfrm>
            <a:off x="9144000" y="1828800"/>
            <a:ext cx="2103120" cy="457200"/>
          </a:xfrm>
          <a:prstGeom prst="rect">
            <a:avLst/>
          </a:prstGeom>
          <a:noFill/>
          <a:ln/>
        </p:spPr>
        <p:txBody>
          <a:bodyPr wrap="square" rtlCol="0" anchor="ctr"/>
          <a:lstStyle/>
          <a:p>
            <a:pPr marL="0" indent="0">
              <a:buNone/>
            </a:pPr>
            <a:r>
              <a:rPr lang="en-US" sz="2400" b="1" dirty="0">
                <a:solidFill>
                  <a:srgbClr val="10B981"/>
                </a:solidFill>
                <a:latin typeface="Segoe UI" pitchFamily="34" charset="0"/>
                <a:ea typeface="Segoe UI" pitchFamily="34" charset="-122"/>
                <a:cs typeface="Segoe UI" pitchFamily="34" charset="-120"/>
              </a:rPr>
              <a:t>04</a:t>
            </a:r>
            <a:endParaRPr lang="en-US" sz="2400" dirty="0"/>
          </a:p>
        </p:txBody>
      </p:sp>
      <p:sp>
        <p:nvSpPr>
          <p:cNvPr id="21" name="Text 19"/>
          <p:cNvSpPr/>
          <p:nvPr/>
        </p:nvSpPr>
        <p:spPr>
          <a:xfrm>
            <a:off x="9144000" y="2423160"/>
            <a:ext cx="2103120" cy="594360"/>
          </a:xfrm>
          <a:prstGeom prst="rect">
            <a:avLst/>
          </a:prstGeom>
          <a:noFill/>
          <a:ln/>
        </p:spPr>
        <p:txBody>
          <a:bodyPr wrap="square"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Complex Access Governance</a:t>
            </a:r>
            <a:endParaRPr lang="en-US" sz="1300" dirty="0"/>
          </a:p>
        </p:txBody>
      </p:sp>
      <p:sp>
        <p:nvSpPr>
          <p:cNvPr id="22" name="Text 20"/>
          <p:cNvSpPr/>
          <p:nvPr/>
        </p:nvSpPr>
        <p:spPr>
          <a:xfrm>
            <a:off x="9144000" y="3108960"/>
            <a:ext cx="2103120" cy="2560320"/>
          </a:xfrm>
          <a:prstGeom prst="rect">
            <a:avLst/>
          </a:prstGeom>
          <a:noFill/>
          <a:ln/>
        </p:spPr>
        <p:txBody>
          <a:bodyPr wrap="square" rtlCol="0" anchor="ctr"/>
          <a:lstStyle/>
          <a:p>
            <a:pPr marL="0" indent="0">
              <a:lnSpc>
                <a:spcPts val="1700"/>
              </a:lnSpc>
              <a:buNone/>
            </a:pPr>
            <a:r>
              <a:rPr lang="en-US" sz="1100" dirty="0">
                <a:solidFill>
                  <a:srgbClr val="475569"/>
                </a:solidFill>
                <a:latin typeface="Segoe UI" pitchFamily="34" charset="0"/>
                <a:ea typeface="Segoe UI" pitchFamily="34" charset="-122"/>
                <a:cs typeface="Segoe UI" pitchFamily="34" charset="-120"/>
              </a:rPr>
              <a:t>Managing diverse roles (Owners, Admins, Members, Viewers) via cumbersome email invite procedures often leads to onboarding delays and security vulnerabilities.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marL="0" indent="0">
              <a:buNone/>
            </a:pPr>
            <a:r>
              <a:rPr lang="en-US" sz="1000" b="1" dirty="0">
                <a:solidFill>
                  <a:srgbClr val="4F46E5"/>
                </a:solidFill>
                <a:latin typeface="Segoe UI" pitchFamily="34" charset="0"/>
                <a:ea typeface="Segoe UI" pitchFamily="34" charset="-122"/>
                <a:cs typeface="Segoe UI" pitchFamily="34" charset="-120"/>
              </a:rPr>
              <a:t>THE SOLUTION</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Project Overview: Digital Operation Hub (TeamSync B2B)</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A unified enterprise operations hub engineered for agile collaboration and transparency</a:t>
            </a:r>
            <a:endParaRPr lang="en-US" sz="1200" dirty="0"/>
          </a:p>
        </p:txBody>
      </p:sp>
      <p:sp>
        <p:nvSpPr>
          <p:cNvPr id="5" name="Shape 3"/>
          <p:cNvSpPr/>
          <p:nvPr/>
        </p:nvSpPr>
        <p:spPr>
          <a:xfrm>
            <a:off x="9875520" y="365760"/>
            <a:ext cx="1828800" cy="320040"/>
          </a:xfrm>
          <a:prstGeom prst="rect">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marL="0" indent="0" algn="ctr">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6217920" cy="4480560"/>
          </a:xfrm>
          <a:prstGeom prst="rect">
            <a:avLst/>
          </a:prstGeom>
          <a:solidFill>
            <a:srgbClr val="FFFFFF"/>
          </a:solidFill>
          <a:ln w="12700">
            <a:solidFill>
              <a:srgbClr val="E2E8F0"/>
            </a:solidFill>
            <a:prstDash val="solid"/>
          </a:ln>
        </p:spPr>
      </p:sp>
      <p:sp>
        <p:nvSpPr>
          <p:cNvPr id="8" name="Text 6"/>
          <p:cNvSpPr/>
          <p:nvPr/>
        </p:nvSpPr>
        <p:spPr>
          <a:xfrm>
            <a:off x="1005840" y="1783080"/>
            <a:ext cx="5669280" cy="320040"/>
          </a:xfrm>
          <a:prstGeom prst="rect">
            <a:avLst/>
          </a:prstGeom>
          <a:noFill/>
          <a:ln/>
        </p:spPr>
        <p:txBody>
          <a:bodyPr wrap="square" rtlCol="0" anchor="ctr"/>
          <a:lstStyle/>
          <a:p>
            <a:pPr marL="0" indent="0">
              <a:buNone/>
            </a:pPr>
            <a:r>
              <a:rPr lang="en-US" sz="1500" b="1" dirty="0">
                <a:solidFill>
                  <a:srgbClr val="4F46E5"/>
                </a:solidFill>
                <a:latin typeface="Segoe UI" pitchFamily="34" charset="0"/>
                <a:ea typeface="Segoe UI" pitchFamily="34" charset="-122"/>
                <a:cs typeface="Segoe UI" pitchFamily="34" charset="-120"/>
              </a:rPr>
              <a:t>💡 What is Digital Operation Hub?</a:t>
            </a:r>
            <a:endParaRPr lang="en-US" sz="1500" dirty="0"/>
          </a:p>
        </p:txBody>
      </p:sp>
      <p:sp>
        <p:nvSpPr>
          <p:cNvPr id="9" name="Text 7"/>
          <p:cNvSpPr/>
          <p:nvPr/>
        </p:nvSpPr>
        <p:spPr>
          <a:xfrm>
            <a:off x="1005840" y="2194560"/>
            <a:ext cx="5669280" cy="1554480"/>
          </a:xfrm>
          <a:prstGeom prst="rect">
            <a:avLst/>
          </a:prstGeom>
          <a:noFill/>
          <a:ln/>
        </p:spPr>
        <p:txBody>
          <a:bodyPr wrap="square" rtlCol="0" anchor="ctr"/>
          <a:lstStyle/>
          <a:p>
            <a:pPr marL="0" indent="0">
              <a:lnSpc>
                <a:spcPts val="1800"/>
              </a:lnSpc>
              <a:buNone/>
            </a:pPr>
            <a:r>
              <a:rPr lang="en-US" sz="1150" dirty="0">
                <a:solidFill>
                  <a:srgbClr val="475569"/>
                </a:solidFill>
                <a:latin typeface="Segoe UI" pitchFamily="34" charset="0"/>
                <a:ea typeface="Segoe UI" pitchFamily="34" charset="-122"/>
                <a:cs typeface="Segoe UI" pitchFamily="34" charset="-120"/>
              </a:rPr>
              <a:t>Digital Operation Hub (TeamSync B2B) is a centralized, cloud-hosted enterprise workspace platform designed to streamline sprint execution, multi-project workflows, and cross-functional team management.</a:t>
            </a:r>
            <a:endParaRPr lang="en-US" sz="1150" dirty="0"/>
          </a:p>
          <a:p>
            <a:pPr marL="0" indent="0">
              <a:lnSpc>
                <a:spcPts val="1800"/>
              </a:lnSpc>
              <a:buNone/>
            </a:pPr>
            <a:endParaRPr lang="en-US" sz="1150" dirty="0"/>
          </a:p>
          <a:p>
            <a:pPr marL="0" indent="0">
              <a:lnSpc>
                <a:spcPts val="1800"/>
              </a:lnSpc>
              <a:buNone/>
            </a:pPr>
            <a:r>
              <a:rPr lang="en-US" sz="1150" dirty="0">
                <a:solidFill>
                  <a:srgbClr val="475569"/>
                </a:solidFill>
                <a:latin typeface="Segoe UI" pitchFamily="34" charset="0"/>
                <a:ea typeface="Segoe UI" pitchFamily="34" charset="-122"/>
                <a:cs typeface="Segoe UI" pitchFamily="34" charset="-120"/>
              </a:rPr>
              <a:t>It bridges the gap between high-level company initiatives (Epics) and day-to-day developer tasks through interactive Kanban boards, automated audit logging, and role-governed workspaces.</a:t>
            </a:r>
            <a:endParaRPr lang="en-US" sz="1150" dirty="0"/>
          </a:p>
        </p:txBody>
      </p:sp>
      <p:sp>
        <p:nvSpPr>
          <p:cNvPr id="10" name="Shape 8"/>
          <p:cNvSpPr/>
          <p:nvPr/>
        </p:nvSpPr>
        <p:spPr>
          <a:xfrm>
            <a:off x="1005840" y="3886200"/>
            <a:ext cx="5669280" cy="1920240"/>
          </a:xfrm>
          <a:prstGeom prst="rect">
            <a:avLst/>
          </a:prstGeom>
          <a:solidFill>
            <a:srgbClr val="F1F5F9"/>
          </a:solidFill>
          <a:ln/>
        </p:spPr>
      </p:sp>
      <p:sp>
        <p:nvSpPr>
          <p:cNvPr id="11" name="Text 9"/>
          <p:cNvSpPr/>
          <p:nvPr/>
        </p:nvSpPr>
        <p:spPr>
          <a:xfrm>
            <a:off x="1188720" y="4023360"/>
            <a:ext cx="530352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Core Solution Pillars:</a:t>
            </a:r>
            <a:endParaRPr lang="en-US" sz="1100" dirty="0"/>
          </a:p>
        </p:txBody>
      </p:sp>
      <p:sp>
        <p:nvSpPr>
          <p:cNvPr id="12" name="Text 10"/>
          <p:cNvSpPr/>
          <p:nvPr/>
        </p:nvSpPr>
        <p:spPr>
          <a:xfrm>
            <a:off x="1188720" y="4297680"/>
            <a:ext cx="5303520" cy="1371600"/>
          </a:xfrm>
          <a:prstGeom prst="rect">
            <a:avLst/>
          </a:prstGeom>
          <a:noFill/>
          <a:ln/>
        </p:spPr>
        <p:txBody>
          <a:bodyPr wrap="square" rtlCol="0" anchor="ctr"/>
          <a:lstStyle/>
          <a:p>
            <a:pPr marL="0" indent="0">
              <a:lnSpc>
                <a:spcPts val="1700"/>
              </a:lnSpc>
              <a:buNone/>
            </a:pPr>
            <a:r>
              <a:rPr lang="en-US" sz="1050" b="1" dirty="0">
                <a:solidFill>
                  <a:srgbClr val="4F46E5"/>
                </a:solidFill>
                <a:latin typeface="Segoe UI" pitchFamily="34" charset="0"/>
                <a:ea typeface="Segoe UI" pitchFamily="34" charset="-122"/>
                <a:cs typeface="Segoe UI" pitchFamily="34" charset="-120"/>
              </a:rPr>
              <a:t>✔ Multi-Tenant Isolation: </a:t>
            </a:r>
            <a:r>
              <a:rPr lang="en-US" sz="1050" dirty="0">
                <a:solidFill>
                  <a:srgbClr val="475569"/>
                </a:solidFill>
                <a:latin typeface="Segoe UI" pitchFamily="34" charset="0"/>
                <a:ea typeface="Segoe UI" pitchFamily="34" charset="-122"/>
                <a:cs typeface="Segoe UI" pitchFamily="34" charset="-120"/>
              </a:rPr>
              <a:t>Distinct organization workspaces with scoped database queries.
</a:t>
            </a:r>
            <a:r>
              <a:rPr lang="en-US" sz="1050" b="1" dirty="0">
                <a:solidFill>
                  <a:srgbClr val="059669"/>
                </a:solidFill>
                <a:latin typeface="Segoe UI" pitchFamily="34" charset="0"/>
                <a:ea typeface="Segoe UI" pitchFamily="34" charset="-122"/>
                <a:cs typeface="Segoe UI" pitchFamily="34" charset="-120"/>
              </a:rPr>
              <a:t>✔ Interactive Task Board: </a:t>
            </a:r>
            <a:r>
              <a:rPr lang="en-US" sz="1050" dirty="0">
                <a:solidFill>
                  <a:srgbClr val="475569"/>
                </a:solidFill>
                <a:latin typeface="Segoe UI" pitchFamily="34" charset="0"/>
                <a:ea typeface="Segoe UI" pitchFamily="34" charset="-122"/>
                <a:cs typeface="Segoe UI" pitchFamily="34" charset="-120"/>
              </a:rPr>
              <a:t>To Do, In Progress, In Review, Completed drag/status workflows.
</a:t>
            </a:r>
            <a:r>
              <a:rPr lang="en-US" sz="1050" b="1" dirty="0">
                <a:solidFill>
                  <a:srgbClr val="0284C7"/>
                </a:solidFill>
                <a:latin typeface="Segoe UI" pitchFamily="34" charset="0"/>
                <a:ea typeface="Segoe UI" pitchFamily="34" charset="-122"/>
                <a:cs typeface="Segoe UI" pitchFamily="34" charset="-120"/>
              </a:rPr>
              <a:t>✔ Real-time Audit &amp; Analytics: </a:t>
            </a:r>
            <a:r>
              <a:rPr lang="en-US" sz="1050" dirty="0">
                <a:solidFill>
                  <a:srgbClr val="475569"/>
                </a:solidFill>
                <a:latin typeface="Segoe UI" pitchFamily="34" charset="0"/>
                <a:ea typeface="Segoe UI" pitchFamily="34" charset="-122"/>
                <a:cs typeface="Segoe UI" pitchFamily="34" charset="-120"/>
              </a:rPr>
              <a:t>Live chronological activity stream and completion metrics.</a:t>
            </a:r>
            <a:endParaRPr lang="en-US" sz="1050" dirty="0"/>
          </a:p>
        </p:txBody>
      </p:sp>
      <p:sp>
        <p:nvSpPr>
          <p:cNvPr id="13" name="Shape 11"/>
          <p:cNvSpPr/>
          <p:nvPr/>
        </p:nvSpPr>
        <p:spPr>
          <a:xfrm>
            <a:off x="7315200" y="1554480"/>
            <a:ext cx="4114800" cy="1371600"/>
          </a:xfrm>
          <a:prstGeom prst="rect">
            <a:avLst/>
          </a:prstGeom>
          <a:solidFill>
            <a:srgbClr val="EEF2FF"/>
          </a:solidFill>
          <a:ln w="12700">
            <a:solidFill>
              <a:srgbClr val="C7D2FE"/>
            </a:solidFill>
            <a:prstDash val="solid"/>
          </a:ln>
        </p:spPr>
      </p:sp>
      <p:sp>
        <p:nvSpPr>
          <p:cNvPr id="14" name="Text 12"/>
          <p:cNvSpPr/>
          <p:nvPr/>
        </p:nvSpPr>
        <p:spPr>
          <a:xfrm>
            <a:off x="7589520" y="1737360"/>
            <a:ext cx="3657600" cy="320040"/>
          </a:xfrm>
          <a:prstGeom prst="rect">
            <a:avLst/>
          </a:prstGeom>
          <a:noFill/>
          <a:ln/>
        </p:spPr>
        <p:txBody>
          <a:bodyPr wrap="square" rtlCol="0" anchor="ctr"/>
          <a:lstStyle/>
          <a:p>
            <a:pPr marL="0" indent="0">
              <a:buNone/>
            </a:pPr>
            <a:r>
              <a:rPr lang="en-US" sz="1400" b="1" dirty="0">
                <a:solidFill>
                  <a:srgbClr val="4F46E5"/>
                </a:solidFill>
                <a:latin typeface="Segoe UI" pitchFamily="34" charset="0"/>
                <a:ea typeface="Segoe UI" pitchFamily="34" charset="-122"/>
                <a:cs typeface="Segoe UI" pitchFamily="34" charset="-120"/>
              </a:rPr>
              <a:t>11+ REST Modules</a:t>
            </a:r>
            <a:endParaRPr lang="en-US" sz="1400" dirty="0"/>
          </a:p>
        </p:txBody>
      </p:sp>
      <p:sp>
        <p:nvSpPr>
          <p:cNvPr id="15" name="Text 13"/>
          <p:cNvSpPr/>
          <p:nvPr/>
        </p:nvSpPr>
        <p:spPr>
          <a:xfrm>
            <a:off x="7589520" y="2103120"/>
            <a:ext cx="3657600" cy="685800"/>
          </a:xfrm>
          <a:prstGeom prst="rect">
            <a:avLst/>
          </a:prstGeom>
          <a:noFill/>
          <a:ln/>
        </p:spPr>
        <p:txBody>
          <a:bodyPr wrap="square" rtlCol="0" anchor="ctr"/>
          <a:lstStyle/>
          <a:p>
            <a:pPr marL="0" indent="0">
              <a:lnSpc>
                <a:spcPts val="1600"/>
              </a:lnSpc>
              <a:buNone/>
            </a:pPr>
            <a:r>
              <a:rPr lang="en-US" sz="1100" dirty="0">
                <a:solidFill>
                  <a:srgbClr val="475569"/>
                </a:solidFill>
                <a:latin typeface="Segoe UI" pitchFamily="34" charset="0"/>
                <a:ea typeface="Segoe UI" pitchFamily="34" charset="-122"/>
                <a:cs typeface="Segoe UI" pitchFamily="34" charset="-120"/>
              </a:rPr>
              <a:t>Full CRUD &amp; analytics endpoints for workspaces, tasks, epics, and activities.</a:t>
            </a:r>
            <a:endParaRPr lang="en-US" sz="1100" dirty="0"/>
          </a:p>
        </p:txBody>
      </p:sp>
      <p:sp>
        <p:nvSpPr>
          <p:cNvPr id="16" name="Shape 14"/>
          <p:cNvSpPr/>
          <p:nvPr/>
        </p:nvSpPr>
        <p:spPr>
          <a:xfrm>
            <a:off x="7315200" y="3108960"/>
            <a:ext cx="4114800" cy="1371600"/>
          </a:xfrm>
          <a:prstGeom prst="rect">
            <a:avLst/>
          </a:prstGeom>
          <a:solidFill>
            <a:srgbClr val="F0FDF4"/>
          </a:solidFill>
          <a:ln w="12700">
            <a:solidFill>
              <a:srgbClr val="BBF7D0"/>
            </a:solidFill>
            <a:prstDash val="solid"/>
          </a:ln>
        </p:spPr>
      </p:sp>
      <p:sp>
        <p:nvSpPr>
          <p:cNvPr id="17" name="Text 15"/>
          <p:cNvSpPr/>
          <p:nvPr/>
        </p:nvSpPr>
        <p:spPr>
          <a:xfrm>
            <a:off x="7589520" y="3291840"/>
            <a:ext cx="3657600" cy="320040"/>
          </a:xfrm>
          <a:prstGeom prst="rect">
            <a:avLst/>
          </a:prstGeom>
          <a:noFill/>
          <a:ln/>
        </p:spPr>
        <p:txBody>
          <a:bodyPr wrap="square" rtlCol="0" anchor="ctr"/>
          <a:lstStyle/>
          <a:p>
            <a:pPr marL="0" indent="0">
              <a:buNone/>
            </a:pPr>
            <a:r>
              <a:rPr lang="en-US" sz="1400" b="1" dirty="0">
                <a:solidFill>
                  <a:srgbClr val="059669"/>
                </a:solidFill>
                <a:latin typeface="Segoe UI" pitchFamily="34" charset="0"/>
                <a:ea typeface="Segoe UI" pitchFamily="34" charset="-122"/>
                <a:cs typeface="Segoe UI" pitchFamily="34" charset="-120"/>
              </a:rPr>
              <a:t>Role-Based Security</a:t>
            </a:r>
            <a:endParaRPr lang="en-US" sz="1400" dirty="0"/>
          </a:p>
        </p:txBody>
      </p:sp>
      <p:sp>
        <p:nvSpPr>
          <p:cNvPr id="18" name="Text 16"/>
          <p:cNvSpPr/>
          <p:nvPr/>
        </p:nvSpPr>
        <p:spPr>
          <a:xfrm>
            <a:off x="7589520" y="3657600"/>
            <a:ext cx="3657600" cy="685800"/>
          </a:xfrm>
          <a:prstGeom prst="rect">
            <a:avLst/>
          </a:prstGeom>
          <a:noFill/>
          <a:ln/>
        </p:spPr>
        <p:txBody>
          <a:bodyPr wrap="square" rtlCol="0" anchor="ctr"/>
          <a:lstStyle/>
          <a:p>
            <a:pPr marL="0" indent="0">
              <a:lnSpc>
                <a:spcPts val="1600"/>
              </a:lnSpc>
              <a:buNone/>
            </a:pPr>
            <a:r>
              <a:rPr lang="en-US" sz="1100" dirty="0">
                <a:solidFill>
                  <a:srgbClr val="475569"/>
                </a:solidFill>
                <a:latin typeface="Segoe UI" pitchFamily="34" charset="0"/>
                <a:ea typeface="Segoe UI" pitchFamily="34" charset="-122"/>
                <a:cs typeface="Segoe UI" pitchFamily="34" charset="-120"/>
              </a:rPr>
              <a:t>4-tier RBAC (Owner, Admin, Member, Viewer) with secure invitation tokens.</a:t>
            </a:r>
            <a:endParaRPr lang="en-US" sz="1100" dirty="0"/>
          </a:p>
        </p:txBody>
      </p:sp>
      <p:sp>
        <p:nvSpPr>
          <p:cNvPr id="19" name="Shape 17"/>
          <p:cNvSpPr/>
          <p:nvPr/>
        </p:nvSpPr>
        <p:spPr>
          <a:xfrm>
            <a:off x="7315200" y="4663440"/>
            <a:ext cx="4114800" cy="1371600"/>
          </a:xfrm>
          <a:prstGeom prst="rect">
            <a:avLst/>
          </a:prstGeom>
          <a:solidFill>
            <a:srgbClr val="F0F9FF"/>
          </a:solidFill>
          <a:ln w="12700">
            <a:solidFill>
              <a:srgbClr val="BAE6FD"/>
            </a:solidFill>
            <a:prstDash val="solid"/>
          </a:ln>
        </p:spPr>
      </p:sp>
      <p:sp>
        <p:nvSpPr>
          <p:cNvPr id="20" name="Text 18"/>
          <p:cNvSpPr/>
          <p:nvPr/>
        </p:nvSpPr>
        <p:spPr>
          <a:xfrm>
            <a:off x="7589520" y="4846320"/>
            <a:ext cx="3657600" cy="320040"/>
          </a:xfrm>
          <a:prstGeom prst="rect">
            <a:avLst/>
          </a:prstGeom>
          <a:noFill/>
          <a:ln/>
        </p:spPr>
        <p:txBody>
          <a:bodyPr wrap="square" rtlCol="0" anchor="ctr"/>
          <a:lstStyle/>
          <a:p>
            <a:pPr marL="0" indent="0">
              <a:buNone/>
            </a:pPr>
            <a:r>
              <a:rPr lang="en-US" sz="1400" b="1" dirty="0">
                <a:solidFill>
                  <a:srgbClr val="0284C7"/>
                </a:solidFill>
                <a:latin typeface="Segoe UI" pitchFamily="34" charset="0"/>
                <a:ea typeface="Segoe UI" pitchFamily="34" charset="-122"/>
                <a:cs typeface="Segoe UI" pitchFamily="34" charset="-120"/>
              </a:rPr>
              <a:t>Live Activity Stream</a:t>
            </a:r>
            <a:endParaRPr lang="en-US" sz="1400" dirty="0"/>
          </a:p>
        </p:txBody>
      </p:sp>
      <p:sp>
        <p:nvSpPr>
          <p:cNvPr id="21" name="Text 19"/>
          <p:cNvSpPr/>
          <p:nvPr/>
        </p:nvSpPr>
        <p:spPr>
          <a:xfrm>
            <a:off x="7589520" y="5212080"/>
            <a:ext cx="3657600" cy="685800"/>
          </a:xfrm>
          <a:prstGeom prst="rect">
            <a:avLst/>
          </a:prstGeom>
          <a:noFill/>
          <a:ln/>
        </p:spPr>
        <p:txBody>
          <a:bodyPr wrap="square" rtlCol="0" anchor="ctr"/>
          <a:lstStyle/>
          <a:p>
            <a:pPr marL="0" indent="0">
              <a:lnSpc>
                <a:spcPts val="1600"/>
              </a:lnSpc>
              <a:buNone/>
            </a:pPr>
            <a:r>
              <a:rPr lang="en-US" sz="1100" dirty="0">
                <a:solidFill>
                  <a:srgbClr val="475569"/>
                </a:solidFill>
                <a:latin typeface="Segoe UI" pitchFamily="34" charset="0"/>
                <a:ea typeface="Segoe UI" pitchFamily="34" charset="-122"/>
                <a:cs typeface="Segoe UI" pitchFamily="34" charset="-120"/>
              </a:rPr>
              <a:t>Automated event interception logging every status shift and team action.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marL="0" indent="0">
              <a:buNone/>
            </a:pPr>
            <a:r>
              <a:rPr lang="en-US" sz="1000" b="1" dirty="0">
                <a:solidFill>
                  <a:srgbClr val="4F46E5"/>
                </a:solidFill>
                <a:latin typeface="Segoe UI" pitchFamily="34" charset="0"/>
                <a:ea typeface="Segoe UI" pitchFamily="34" charset="-122"/>
                <a:cs typeface="Segoe UI" pitchFamily="34" charset="-120"/>
              </a:rPr>
              <a:t>TECHNICAL FOUNDATION</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Technology Stack &amp; Tooling Ecosystem</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Modern, scalable MERN stack architecture with robust security and validation libraries</a:t>
            </a:r>
            <a:endParaRPr lang="en-US" sz="1200" dirty="0"/>
          </a:p>
        </p:txBody>
      </p:sp>
      <p:sp>
        <p:nvSpPr>
          <p:cNvPr id="5" name="Shape 3"/>
          <p:cNvSpPr/>
          <p:nvPr/>
        </p:nvSpPr>
        <p:spPr>
          <a:xfrm>
            <a:off x="9875520" y="365760"/>
            <a:ext cx="1828800" cy="320040"/>
          </a:xfrm>
          <a:prstGeom prst="rect">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marL="0" indent="0" algn="ctr">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2468880" cy="4480560"/>
          </a:xfrm>
          <a:prstGeom prst="rect">
            <a:avLst/>
          </a:prstGeom>
          <a:solidFill>
            <a:srgbClr val="FFFFFF"/>
          </a:solidFill>
          <a:ln w="12700">
            <a:solidFill>
              <a:srgbClr val="E2E8F0"/>
            </a:solidFill>
            <a:prstDash val="solid"/>
          </a:ln>
        </p:spPr>
      </p:sp>
      <p:sp>
        <p:nvSpPr>
          <p:cNvPr id="8" name="Shape 6"/>
          <p:cNvSpPr/>
          <p:nvPr/>
        </p:nvSpPr>
        <p:spPr>
          <a:xfrm>
            <a:off x="731520" y="1554480"/>
            <a:ext cx="2468880" cy="640080"/>
          </a:xfrm>
          <a:prstGeom prst="rect">
            <a:avLst/>
          </a:prstGeom>
          <a:solidFill>
            <a:srgbClr val="0F172A"/>
          </a:solidFill>
          <a:ln/>
        </p:spPr>
      </p:sp>
      <p:sp>
        <p:nvSpPr>
          <p:cNvPr id="9" name="Text 7"/>
          <p:cNvSpPr/>
          <p:nvPr/>
        </p:nvSpPr>
        <p:spPr>
          <a:xfrm>
            <a:off x="822960" y="1645920"/>
            <a:ext cx="228600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 Frontend Layer</a:t>
            </a:r>
            <a:endParaRPr lang="en-US" sz="1200" dirty="0"/>
          </a:p>
        </p:txBody>
      </p:sp>
      <p:sp>
        <p:nvSpPr>
          <p:cNvPr id="10" name="Text 8"/>
          <p:cNvSpPr/>
          <p:nvPr/>
        </p:nvSpPr>
        <p:spPr>
          <a:xfrm>
            <a:off x="868680" y="2331720"/>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React.js 18</a:t>
            </a:r>
            <a:endParaRPr lang="en-US" sz="1100" dirty="0"/>
          </a:p>
        </p:txBody>
      </p:sp>
      <p:sp>
        <p:nvSpPr>
          <p:cNvPr id="11" name="Text 9"/>
          <p:cNvSpPr/>
          <p:nvPr/>
        </p:nvSpPr>
        <p:spPr>
          <a:xfrm>
            <a:off x="1005840" y="2532888"/>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Component-based declarative UI</a:t>
            </a:r>
            <a:endParaRPr lang="en-US" sz="950" dirty="0"/>
          </a:p>
        </p:txBody>
      </p:sp>
      <p:sp>
        <p:nvSpPr>
          <p:cNvPr id="12" name="Text 10"/>
          <p:cNvSpPr/>
          <p:nvPr/>
        </p:nvSpPr>
        <p:spPr>
          <a:xfrm>
            <a:off x="868680" y="2990088"/>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Vite 6.0</a:t>
            </a:r>
            <a:endParaRPr lang="en-US" sz="1100" dirty="0"/>
          </a:p>
        </p:txBody>
      </p:sp>
      <p:sp>
        <p:nvSpPr>
          <p:cNvPr id="13" name="Text 11"/>
          <p:cNvSpPr/>
          <p:nvPr/>
        </p:nvSpPr>
        <p:spPr>
          <a:xfrm>
            <a:off x="1005840" y="3191256"/>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Ultra-fast build &amp; HMR tool</a:t>
            </a:r>
            <a:endParaRPr lang="en-US" sz="950" dirty="0"/>
          </a:p>
        </p:txBody>
      </p:sp>
      <p:sp>
        <p:nvSpPr>
          <p:cNvPr id="14" name="Text 12"/>
          <p:cNvSpPr/>
          <p:nvPr/>
        </p:nvSpPr>
        <p:spPr>
          <a:xfrm>
            <a:off x="868680" y="3648456"/>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React Router v6</a:t>
            </a:r>
            <a:endParaRPr lang="en-US" sz="1100" dirty="0"/>
          </a:p>
        </p:txBody>
      </p:sp>
      <p:sp>
        <p:nvSpPr>
          <p:cNvPr id="15" name="Text 13"/>
          <p:cNvSpPr/>
          <p:nvPr/>
        </p:nvSpPr>
        <p:spPr>
          <a:xfrm>
            <a:off x="1005840" y="3849624"/>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Client-side SPA routing</a:t>
            </a:r>
            <a:endParaRPr lang="en-US" sz="950" dirty="0"/>
          </a:p>
        </p:txBody>
      </p:sp>
      <p:sp>
        <p:nvSpPr>
          <p:cNvPr id="16" name="Text 14"/>
          <p:cNvSpPr/>
          <p:nvPr/>
        </p:nvSpPr>
        <p:spPr>
          <a:xfrm>
            <a:off x="868680" y="4306824"/>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Lucide React</a:t>
            </a:r>
            <a:endParaRPr lang="en-US" sz="1100" dirty="0"/>
          </a:p>
        </p:txBody>
      </p:sp>
      <p:sp>
        <p:nvSpPr>
          <p:cNvPr id="17" name="Text 15"/>
          <p:cNvSpPr/>
          <p:nvPr/>
        </p:nvSpPr>
        <p:spPr>
          <a:xfrm>
            <a:off x="1005840" y="4507992"/>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Modern vector icon system</a:t>
            </a:r>
            <a:endParaRPr lang="en-US" sz="950" dirty="0"/>
          </a:p>
        </p:txBody>
      </p:sp>
      <p:sp>
        <p:nvSpPr>
          <p:cNvPr id="18" name="Text 16"/>
          <p:cNvSpPr/>
          <p:nvPr/>
        </p:nvSpPr>
        <p:spPr>
          <a:xfrm>
            <a:off x="868680" y="4965192"/>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Vanilla CSS 3</a:t>
            </a:r>
            <a:endParaRPr lang="en-US" sz="1100" dirty="0"/>
          </a:p>
        </p:txBody>
      </p:sp>
      <p:sp>
        <p:nvSpPr>
          <p:cNvPr id="19" name="Text 17"/>
          <p:cNvSpPr/>
          <p:nvPr/>
        </p:nvSpPr>
        <p:spPr>
          <a:xfrm>
            <a:off x="1005840" y="5166360"/>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Glassmorphism &amp; dark theme</a:t>
            </a:r>
            <a:endParaRPr lang="en-US" sz="950" dirty="0"/>
          </a:p>
        </p:txBody>
      </p:sp>
      <p:sp>
        <p:nvSpPr>
          <p:cNvPr id="20" name="Shape 18"/>
          <p:cNvSpPr/>
          <p:nvPr/>
        </p:nvSpPr>
        <p:spPr>
          <a:xfrm>
            <a:off x="3474720" y="1554480"/>
            <a:ext cx="2468880" cy="4480560"/>
          </a:xfrm>
          <a:prstGeom prst="rect">
            <a:avLst/>
          </a:prstGeom>
          <a:solidFill>
            <a:srgbClr val="FFFFFF"/>
          </a:solidFill>
          <a:ln w="12700">
            <a:solidFill>
              <a:srgbClr val="E2E8F0"/>
            </a:solidFill>
            <a:prstDash val="solid"/>
          </a:ln>
        </p:spPr>
      </p:sp>
      <p:sp>
        <p:nvSpPr>
          <p:cNvPr id="21" name="Shape 19"/>
          <p:cNvSpPr/>
          <p:nvPr/>
        </p:nvSpPr>
        <p:spPr>
          <a:xfrm>
            <a:off x="3474720" y="1554480"/>
            <a:ext cx="2468880" cy="640080"/>
          </a:xfrm>
          <a:prstGeom prst="rect">
            <a:avLst/>
          </a:prstGeom>
          <a:solidFill>
            <a:srgbClr val="0F172A"/>
          </a:solidFill>
          <a:ln/>
        </p:spPr>
      </p:sp>
      <p:sp>
        <p:nvSpPr>
          <p:cNvPr id="22" name="Text 20"/>
          <p:cNvSpPr/>
          <p:nvPr/>
        </p:nvSpPr>
        <p:spPr>
          <a:xfrm>
            <a:off x="3566160" y="1645920"/>
            <a:ext cx="228600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 Backend Layer</a:t>
            </a:r>
            <a:endParaRPr lang="en-US" sz="1200" dirty="0"/>
          </a:p>
        </p:txBody>
      </p:sp>
      <p:sp>
        <p:nvSpPr>
          <p:cNvPr id="23" name="Text 21"/>
          <p:cNvSpPr/>
          <p:nvPr/>
        </p:nvSpPr>
        <p:spPr>
          <a:xfrm>
            <a:off x="3611880" y="2331720"/>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Node.js (v24)</a:t>
            </a:r>
            <a:endParaRPr lang="en-US" sz="1100" dirty="0"/>
          </a:p>
        </p:txBody>
      </p:sp>
      <p:sp>
        <p:nvSpPr>
          <p:cNvPr id="24" name="Text 22"/>
          <p:cNvSpPr/>
          <p:nvPr/>
        </p:nvSpPr>
        <p:spPr>
          <a:xfrm>
            <a:off x="3749040" y="2532888"/>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Asynchronous event-driven runtime</a:t>
            </a:r>
            <a:endParaRPr lang="en-US" sz="950" dirty="0"/>
          </a:p>
        </p:txBody>
      </p:sp>
      <p:sp>
        <p:nvSpPr>
          <p:cNvPr id="25" name="Text 23"/>
          <p:cNvSpPr/>
          <p:nvPr/>
        </p:nvSpPr>
        <p:spPr>
          <a:xfrm>
            <a:off x="3611880" y="2990088"/>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Express.js 5.2</a:t>
            </a:r>
            <a:endParaRPr lang="en-US" sz="1100" dirty="0"/>
          </a:p>
        </p:txBody>
      </p:sp>
      <p:sp>
        <p:nvSpPr>
          <p:cNvPr id="26" name="Text 24"/>
          <p:cNvSpPr/>
          <p:nvPr/>
        </p:nvSpPr>
        <p:spPr>
          <a:xfrm>
            <a:off x="3749040" y="3191256"/>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RESTful routing framework</a:t>
            </a:r>
            <a:endParaRPr lang="en-US" sz="950" dirty="0"/>
          </a:p>
        </p:txBody>
      </p:sp>
      <p:sp>
        <p:nvSpPr>
          <p:cNvPr id="27" name="Text 25"/>
          <p:cNvSpPr/>
          <p:nvPr/>
        </p:nvSpPr>
        <p:spPr>
          <a:xfrm>
            <a:off x="3611880" y="3648456"/>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Zod 4.5</a:t>
            </a:r>
            <a:endParaRPr lang="en-US" sz="1100" dirty="0"/>
          </a:p>
        </p:txBody>
      </p:sp>
      <p:sp>
        <p:nvSpPr>
          <p:cNvPr id="28" name="Text 26"/>
          <p:cNvSpPr/>
          <p:nvPr/>
        </p:nvSpPr>
        <p:spPr>
          <a:xfrm>
            <a:off x="3749040" y="3849624"/>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Strict schema runtime validation</a:t>
            </a:r>
            <a:endParaRPr lang="en-US" sz="950" dirty="0"/>
          </a:p>
        </p:txBody>
      </p:sp>
      <p:sp>
        <p:nvSpPr>
          <p:cNvPr id="29" name="Text 27"/>
          <p:cNvSpPr/>
          <p:nvPr/>
        </p:nvSpPr>
        <p:spPr>
          <a:xfrm>
            <a:off x="3611880" y="4306824"/>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CORS &amp; Cookie-Session</a:t>
            </a:r>
            <a:endParaRPr lang="en-US" sz="1100" dirty="0"/>
          </a:p>
        </p:txBody>
      </p:sp>
      <p:sp>
        <p:nvSpPr>
          <p:cNvPr id="30" name="Text 28"/>
          <p:cNvSpPr/>
          <p:nvPr/>
        </p:nvSpPr>
        <p:spPr>
          <a:xfrm>
            <a:off x="3749040" y="4507992"/>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Secure cross-origin session mgmt</a:t>
            </a:r>
            <a:endParaRPr lang="en-US" sz="950" dirty="0"/>
          </a:p>
        </p:txBody>
      </p:sp>
      <p:sp>
        <p:nvSpPr>
          <p:cNvPr id="31" name="Text 29"/>
          <p:cNvSpPr/>
          <p:nvPr/>
        </p:nvSpPr>
        <p:spPr>
          <a:xfrm>
            <a:off x="3611880" y="4965192"/>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Nodemon</a:t>
            </a:r>
            <a:endParaRPr lang="en-US" sz="1100" dirty="0"/>
          </a:p>
        </p:txBody>
      </p:sp>
      <p:sp>
        <p:nvSpPr>
          <p:cNvPr id="32" name="Text 30"/>
          <p:cNvSpPr/>
          <p:nvPr/>
        </p:nvSpPr>
        <p:spPr>
          <a:xfrm>
            <a:off x="3749040" y="5166360"/>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Development hot reloading</a:t>
            </a:r>
            <a:endParaRPr lang="en-US" sz="950" dirty="0"/>
          </a:p>
        </p:txBody>
      </p:sp>
      <p:sp>
        <p:nvSpPr>
          <p:cNvPr id="33" name="Shape 31"/>
          <p:cNvSpPr/>
          <p:nvPr/>
        </p:nvSpPr>
        <p:spPr>
          <a:xfrm>
            <a:off x="6217920" y="1554480"/>
            <a:ext cx="2468880" cy="4480560"/>
          </a:xfrm>
          <a:prstGeom prst="rect">
            <a:avLst/>
          </a:prstGeom>
          <a:solidFill>
            <a:srgbClr val="FFFFFF"/>
          </a:solidFill>
          <a:ln w="12700">
            <a:solidFill>
              <a:srgbClr val="E2E8F0"/>
            </a:solidFill>
            <a:prstDash val="solid"/>
          </a:ln>
        </p:spPr>
      </p:sp>
      <p:sp>
        <p:nvSpPr>
          <p:cNvPr id="34" name="Shape 32"/>
          <p:cNvSpPr/>
          <p:nvPr/>
        </p:nvSpPr>
        <p:spPr>
          <a:xfrm>
            <a:off x="6217920" y="1554480"/>
            <a:ext cx="2468880" cy="640080"/>
          </a:xfrm>
          <a:prstGeom prst="rect">
            <a:avLst/>
          </a:prstGeom>
          <a:solidFill>
            <a:srgbClr val="0F172A"/>
          </a:solidFill>
          <a:ln/>
        </p:spPr>
      </p:sp>
      <p:sp>
        <p:nvSpPr>
          <p:cNvPr id="35" name="Text 33"/>
          <p:cNvSpPr/>
          <p:nvPr/>
        </p:nvSpPr>
        <p:spPr>
          <a:xfrm>
            <a:off x="6309360" y="1645920"/>
            <a:ext cx="228600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 Database Layer</a:t>
            </a:r>
            <a:endParaRPr lang="en-US" sz="1200" dirty="0"/>
          </a:p>
        </p:txBody>
      </p:sp>
      <p:sp>
        <p:nvSpPr>
          <p:cNvPr id="36" name="Text 34"/>
          <p:cNvSpPr/>
          <p:nvPr/>
        </p:nvSpPr>
        <p:spPr>
          <a:xfrm>
            <a:off x="6355080" y="2331720"/>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MongoDB Atlas</a:t>
            </a:r>
            <a:endParaRPr lang="en-US" sz="1100" dirty="0"/>
          </a:p>
        </p:txBody>
      </p:sp>
      <p:sp>
        <p:nvSpPr>
          <p:cNvPr id="37" name="Text 35"/>
          <p:cNvSpPr/>
          <p:nvPr/>
        </p:nvSpPr>
        <p:spPr>
          <a:xfrm>
            <a:off x="6492240" y="2532888"/>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Cloud NoSQL document database</a:t>
            </a:r>
            <a:endParaRPr lang="en-US" sz="950" dirty="0"/>
          </a:p>
        </p:txBody>
      </p:sp>
      <p:sp>
        <p:nvSpPr>
          <p:cNvPr id="38" name="Text 36"/>
          <p:cNvSpPr/>
          <p:nvPr/>
        </p:nvSpPr>
        <p:spPr>
          <a:xfrm>
            <a:off x="6355080" y="2990088"/>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Mongoose 9.9</a:t>
            </a:r>
            <a:endParaRPr lang="en-US" sz="1100" dirty="0"/>
          </a:p>
        </p:txBody>
      </p:sp>
      <p:sp>
        <p:nvSpPr>
          <p:cNvPr id="39" name="Text 37"/>
          <p:cNvSpPr/>
          <p:nvPr/>
        </p:nvSpPr>
        <p:spPr>
          <a:xfrm>
            <a:off x="6492240" y="3191256"/>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Schema modeling &amp; ODM layer</a:t>
            </a:r>
            <a:endParaRPr lang="en-US" sz="950" dirty="0"/>
          </a:p>
        </p:txBody>
      </p:sp>
      <p:sp>
        <p:nvSpPr>
          <p:cNvPr id="40" name="Text 38"/>
          <p:cNvSpPr/>
          <p:nvPr/>
        </p:nvSpPr>
        <p:spPr>
          <a:xfrm>
            <a:off x="6355080" y="3648456"/>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Indexed Queries</a:t>
            </a:r>
            <a:endParaRPr lang="en-US" sz="1100" dirty="0"/>
          </a:p>
        </p:txBody>
      </p:sp>
      <p:sp>
        <p:nvSpPr>
          <p:cNvPr id="41" name="Text 39"/>
          <p:cNvSpPr/>
          <p:nvPr/>
        </p:nvSpPr>
        <p:spPr>
          <a:xfrm>
            <a:off x="6492240" y="3849624"/>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Workspace-scoped fast lookups</a:t>
            </a:r>
            <a:endParaRPr lang="en-US" sz="950" dirty="0"/>
          </a:p>
        </p:txBody>
      </p:sp>
      <p:sp>
        <p:nvSpPr>
          <p:cNvPr id="42" name="Text 40"/>
          <p:cNvSpPr/>
          <p:nvPr/>
        </p:nvSpPr>
        <p:spPr>
          <a:xfrm>
            <a:off x="6355080" y="4306824"/>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Population Hooks</a:t>
            </a:r>
            <a:endParaRPr lang="en-US" sz="1100" dirty="0"/>
          </a:p>
        </p:txBody>
      </p:sp>
      <p:sp>
        <p:nvSpPr>
          <p:cNvPr id="43" name="Text 41"/>
          <p:cNvSpPr/>
          <p:nvPr/>
        </p:nvSpPr>
        <p:spPr>
          <a:xfrm>
            <a:off x="6492240" y="4507992"/>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Relational foreign key joins</a:t>
            </a:r>
            <a:endParaRPr lang="en-US" sz="950" dirty="0"/>
          </a:p>
        </p:txBody>
      </p:sp>
      <p:sp>
        <p:nvSpPr>
          <p:cNvPr id="44" name="Text 42"/>
          <p:cNvSpPr/>
          <p:nvPr/>
        </p:nvSpPr>
        <p:spPr>
          <a:xfrm>
            <a:off x="6355080" y="4965192"/>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DNS SRV Config</a:t>
            </a:r>
            <a:endParaRPr lang="en-US" sz="1100" dirty="0"/>
          </a:p>
        </p:txBody>
      </p:sp>
      <p:sp>
        <p:nvSpPr>
          <p:cNvPr id="45" name="Text 43"/>
          <p:cNvSpPr/>
          <p:nvPr/>
        </p:nvSpPr>
        <p:spPr>
          <a:xfrm>
            <a:off x="6492240" y="5166360"/>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Dual Cloudflare/Google DNS resolvers</a:t>
            </a:r>
            <a:endParaRPr lang="en-US" sz="950" dirty="0"/>
          </a:p>
        </p:txBody>
      </p:sp>
      <p:sp>
        <p:nvSpPr>
          <p:cNvPr id="46" name="Shape 44"/>
          <p:cNvSpPr/>
          <p:nvPr/>
        </p:nvSpPr>
        <p:spPr>
          <a:xfrm>
            <a:off x="8961120" y="1554480"/>
            <a:ext cx="2468880" cy="4480560"/>
          </a:xfrm>
          <a:prstGeom prst="rect">
            <a:avLst/>
          </a:prstGeom>
          <a:solidFill>
            <a:srgbClr val="FFFFFF"/>
          </a:solidFill>
          <a:ln w="12700">
            <a:solidFill>
              <a:srgbClr val="E2E8F0"/>
            </a:solidFill>
            <a:prstDash val="solid"/>
          </a:ln>
        </p:spPr>
      </p:sp>
      <p:sp>
        <p:nvSpPr>
          <p:cNvPr id="47" name="Shape 45"/>
          <p:cNvSpPr/>
          <p:nvPr/>
        </p:nvSpPr>
        <p:spPr>
          <a:xfrm>
            <a:off x="8961120" y="1554480"/>
            <a:ext cx="2468880" cy="640080"/>
          </a:xfrm>
          <a:prstGeom prst="rect">
            <a:avLst/>
          </a:prstGeom>
          <a:solidFill>
            <a:srgbClr val="0F172A"/>
          </a:solidFill>
          <a:ln/>
        </p:spPr>
      </p:sp>
      <p:sp>
        <p:nvSpPr>
          <p:cNvPr id="48" name="Text 46"/>
          <p:cNvSpPr/>
          <p:nvPr/>
        </p:nvSpPr>
        <p:spPr>
          <a:xfrm>
            <a:off x="9052560" y="1645920"/>
            <a:ext cx="228600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 Security &amp; Auth</a:t>
            </a:r>
            <a:endParaRPr lang="en-US" sz="1200" dirty="0"/>
          </a:p>
        </p:txBody>
      </p:sp>
      <p:sp>
        <p:nvSpPr>
          <p:cNvPr id="49" name="Text 47"/>
          <p:cNvSpPr/>
          <p:nvPr/>
        </p:nvSpPr>
        <p:spPr>
          <a:xfrm>
            <a:off x="9098280" y="2331720"/>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JWT (JsonWebToken)</a:t>
            </a:r>
            <a:endParaRPr lang="en-US" sz="1100" dirty="0"/>
          </a:p>
        </p:txBody>
      </p:sp>
      <p:sp>
        <p:nvSpPr>
          <p:cNvPr id="50" name="Text 48"/>
          <p:cNvSpPr/>
          <p:nvPr/>
        </p:nvSpPr>
        <p:spPr>
          <a:xfrm>
            <a:off x="9235440" y="2532888"/>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Stateless bearer token auth</a:t>
            </a:r>
            <a:endParaRPr lang="en-US" sz="950" dirty="0"/>
          </a:p>
        </p:txBody>
      </p:sp>
      <p:sp>
        <p:nvSpPr>
          <p:cNvPr id="51" name="Text 49"/>
          <p:cNvSpPr/>
          <p:nvPr/>
        </p:nvSpPr>
        <p:spPr>
          <a:xfrm>
            <a:off x="9098280" y="2990088"/>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Passport.js</a:t>
            </a:r>
            <a:endParaRPr lang="en-US" sz="1100" dirty="0"/>
          </a:p>
        </p:txBody>
      </p:sp>
      <p:sp>
        <p:nvSpPr>
          <p:cNvPr id="52" name="Text 50"/>
          <p:cNvSpPr/>
          <p:nvPr/>
        </p:nvSpPr>
        <p:spPr>
          <a:xfrm>
            <a:off x="9235440" y="3191256"/>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Google OAuth 2.0 &amp; Local strategy</a:t>
            </a:r>
            <a:endParaRPr lang="en-US" sz="950" dirty="0"/>
          </a:p>
        </p:txBody>
      </p:sp>
      <p:sp>
        <p:nvSpPr>
          <p:cNvPr id="53" name="Text 51"/>
          <p:cNvSpPr/>
          <p:nvPr/>
        </p:nvSpPr>
        <p:spPr>
          <a:xfrm>
            <a:off x="9098280" y="3648456"/>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Bcrypt.js 3.0</a:t>
            </a:r>
            <a:endParaRPr lang="en-US" sz="1100" dirty="0"/>
          </a:p>
        </p:txBody>
      </p:sp>
      <p:sp>
        <p:nvSpPr>
          <p:cNvPr id="54" name="Text 52"/>
          <p:cNvSpPr/>
          <p:nvPr/>
        </p:nvSpPr>
        <p:spPr>
          <a:xfrm>
            <a:off x="9235440" y="3849624"/>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Salted password hashing</a:t>
            </a:r>
            <a:endParaRPr lang="en-US" sz="950" dirty="0"/>
          </a:p>
        </p:txBody>
      </p:sp>
      <p:sp>
        <p:nvSpPr>
          <p:cNvPr id="55" name="Text 53"/>
          <p:cNvSpPr/>
          <p:nvPr/>
        </p:nvSpPr>
        <p:spPr>
          <a:xfrm>
            <a:off x="9098280" y="4306824"/>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RBAC Middleware</a:t>
            </a:r>
            <a:endParaRPr lang="en-US" sz="1100" dirty="0"/>
          </a:p>
        </p:txBody>
      </p:sp>
      <p:sp>
        <p:nvSpPr>
          <p:cNvPr id="56" name="Text 54"/>
          <p:cNvSpPr/>
          <p:nvPr/>
        </p:nvSpPr>
        <p:spPr>
          <a:xfrm>
            <a:off x="9235440" y="4507992"/>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Role authorization guards</a:t>
            </a:r>
            <a:endParaRPr lang="en-US" sz="950" dirty="0"/>
          </a:p>
        </p:txBody>
      </p:sp>
      <p:sp>
        <p:nvSpPr>
          <p:cNvPr id="57" name="Text 55"/>
          <p:cNvSpPr/>
          <p:nvPr/>
        </p:nvSpPr>
        <p:spPr>
          <a:xfrm>
            <a:off x="9098280" y="4965192"/>
            <a:ext cx="2194560" cy="228600"/>
          </a:xfrm>
          <a:prstGeom prst="rect">
            <a:avLst/>
          </a:prstGeom>
          <a:noFill/>
          <a:ln/>
        </p:spPr>
        <p:txBody>
          <a:bodyPr wrap="square"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 Global Error Handlers</a:t>
            </a:r>
            <a:endParaRPr lang="en-US" sz="1100" dirty="0"/>
          </a:p>
        </p:txBody>
      </p:sp>
      <p:sp>
        <p:nvSpPr>
          <p:cNvPr id="58" name="Text 56"/>
          <p:cNvSpPr/>
          <p:nvPr/>
        </p:nvSpPr>
        <p:spPr>
          <a:xfrm>
            <a:off x="9235440" y="5166360"/>
            <a:ext cx="2057400" cy="256032"/>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Safe sanitized error responses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marL="0" indent="0">
              <a:buNone/>
            </a:pPr>
            <a:r>
              <a:rPr lang="en-US" sz="1000" b="1" dirty="0">
                <a:solidFill>
                  <a:srgbClr val="4F46E5"/>
                </a:solidFill>
                <a:latin typeface="Segoe UI" pitchFamily="34" charset="0"/>
                <a:ea typeface="Segoe UI" pitchFamily="34" charset="-122"/>
                <a:cs typeface="Segoe UI" pitchFamily="34" charset="-120"/>
              </a:rPr>
              <a:t>ARCHITECTURE</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System Architecture &amp; End-to-End Workflow</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Three-tier modular design ensuring security, scalability, and loose coupling</a:t>
            </a:r>
            <a:endParaRPr lang="en-US" sz="1200" dirty="0"/>
          </a:p>
        </p:txBody>
      </p:sp>
      <p:sp>
        <p:nvSpPr>
          <p:cNvPr id="5" name="Shape 3"/>
          <p:cNvSpPr/>
          <p:nvPr/>
        </p:nvSpPr>
        <p:spPr>
          <a:xfrm>
            <a:off x="9875520" y="365760"/>
            <a:ext cx="1828800" cy="320040"/>
          </a:xfrm>
          <a:prstGeom prst="rect">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marL="0" indent="0" algn="ctr">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10698480" cy="1325880"/>
          </a:xfrm>
          <a:prstGeom prst="rect">
            <a:avLst/>
          </a:prstGeom>
          <a:solidFill>
            <a:srgbClr val="F0F9FF"/>
          </a:solidFill>
          <a:ln w="19050">
            <a:solidFill>
              <a:srgbClr val="BAE6FD"/>
            </a:solidFill>
            <a:prstDash val="solid"/>
          </a:ln>
        </p:spPr>
      </p:sp>
      <p:sp>
        <p:nvSpPr>
          <p:cNvPr id="8" name="Text 6"/>
          <p:cNvSpPr/>
          <p:nvPr/>
        </p:nvSpPr>
        <p:spPr>
          <a:xfrm>
            <a:off x="1005840" y="1664208"/>
            <a:ext cx="7772400" cy="274320"/>
          </a:xfrm>
          <a:prstGeom prst="rect">
            <a:avLst/>
          </a:prstGeom>
          <a:noFill/>
          <a:ln/>
        </p:spPr>
        <p:txBody>
          <a:bodyPr wrap="square" rtlCol="0" anchor="ctr"/>
          <a:lstStyle/>
          <a:p>
            <a:pPr marL="0" indent="0">
              <a:buNone/>
            </a:pPr>
            <a:r>
              <a:rPr lang="en-US" sz="1250" b="1" dirty="0">
                <a:solidFill>
                  <a:srgbClr val="0F172A"/>
                </a:solidFill>
                <a:latin typeface="Segoe UI" pitchFamily="34" charset="0"/>
                <a:ea typeface="Segoe UI" pitchFamily="34" charset="-122"/>
                <a:cs typeface="Segoe UI" pitchFamily="34" charset="-120"/>
              </a:rPr>
              <a:t>TIER 1: CLIENT PRESENTATION LAYER (React 18 + Vite)</a:t>
            </a:r>
            <a:endParaRPr lang="en-US" sz="1250" dirty="0"/>
          </a:p>
        </p:txBody>
      </p:sp>
      <p:sp>
        <p:nvSpPr>
          <p:cNvPr id="9" name="Shape 7"/>
          <p:cNvSpPr/>
          <p:nvPr/>
        </p:nvSpPr>
        <p:spPr>
          <a:xfrm>
            <a:off x="9784080" y="1664208"/>
            <a:ext cx="1371600" cy="256032"/>
          </a:xfrm>
          <a:prstGeom prst="rect">
            <a:avLst/>
          </a:prstGeom>
          <a:solidFill>
            <a:srgbClr val="0F172A"/>
          </a:solidFill>
          <a:ln/>
        </p:spPr>
      </p:sp>
      <p:sp>
        <p:nvSpPr>
          <p:cNvPr id="10" name="Text 8"/>
          <p:cNvSpPr/>
          <p:nvPr/>
        </p:nvSpPr>
        <p:spPr>
          <a:xfrm>
            <a:off x="9784080" y="1664208"/>
            <a:ext cx="1371600" cy="256032"/>
          </a:xfrm>
          <a:prstGeom prst="rect">
            <a:avLst/>
          </a:prstGeom>
          <a:noFill/>
          <a:ln/>
        </p:spPr>
        <p:txBody>
          <a:bodyPr wrap="square" rtlCol="0" anchor="ctr"/>
          <a:lstStyle/>
          <a:p>
            <a:pPr marL="0" indent="0" algn="ctr">
              <a:buNone/>
            </a:pPr>
            <a:r>
              <a:rPr lang="en-US" sz="900" b="1" dirty="0">
                <a:solidFill>
                  <a:srgbClr val="38BDF8"/>
                </a:solidFill>
                <a:latin typeface="Segoe UI" pitchFamily="34" charset="0"/>
                <a:ea typeface="Segoe UI" pitchFamily="34" charset="-122"/>
                <a:cs typeface="Segoe UI" pitchFamily="34" charset="-120"/>
              </a:rPr>
              <a:t>FRONTEND</a:t>
            </a:r>
            <a:endParaRPr lang="en-US" sz="900" dirty="0"/>
          </a:p>
        </p:txBody>
      </p:sp>
      <p:sp>
        <p:nvSpPr>
          <p:cNvPr id="11" name="Text 9"/>
          <p:cNvSpPr/>
          <p:nvPr/>
        </p:nvSpPr>
        <p:spPr>
          <a:xfrm>
            <a:off x="1005840" y="1965960"/>
            <a:ext cx="10149840" cy="822960"/>
          </a:xfrm>
          <a:prstGeom prst="rect">
            <a:avLst/>
          </a:prstGeom>
          <a:noFill/>
          <a:ln/>
        </p:spPr>
        <p:txBody>
          <a:bodyPr wrap="square" rtlCol="0" anchor="ctr"/>
          <a:lstStyle/>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 React Single Page Application (SPA) with Context API (AuthContext, WorkspaceContext)</a:t>
            </a:r>
            <a:endParaRPr lang="en-US" sz="1050" dirty="0"/>
          </a:p>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 Interactive Views: Dashboard, Kanban Tasks, Epics, Project Detail, Analytics, Team Management</a:t>
            </a:r>
            <a:endParaRPr lang="en-US" sz="1050" dirty="0"/>
          </a:p>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 Client HTTP Adapter: Fetch/Axios API client with credentials, JWT interceptors, and error handling</a:t>
            </a:r>
            <a:endParaRPr lang="en-US" sz="1050" dirty="0"/>
          </a:p>
        </p:txBody>
      </p:sp>
      <p:sp>
        <p:nvSpPr>
          <p:cNvPr id="12" name="Shape 10"/>
          <p:cNvSpPr/>
          <p:nvPr/>
        </p:nvSpPr>
        <p:spPr>
          <a:xfrm>
            <a:off x="731520" y="3063240"/>
            <a:ext cx="10698480" cy="1325880"/>
          </a:xfrm>
          <a:prstGeom prst="rect">
            <a:avLst/>
          </a:prstGeom>
          <a:solidFill>
            <a:srgbClr val="EEF2FF"/>
          </a:solidFill>
          <a:ln w="19050">
            <a:solidFill>
              <a:srgbClr val="C7D2FE"/>
            </a:solidFill>
            <a:prstDash val="solid"/>
          </a:ln>
        </p:spPr>
      </p:sp>
      <p:sp>
        <p:nvSpPr>
          <p:cNvPr id="13" name="Text 11"/>
          <p:cNvSpPr/>
          <p:nvPr/>
        </p:nvSpPr>
        <p:spPr>
          <a:xfrm>
            <a:off x="1005840" y="3172968"/>
            <a:ext cx="7772400" cy="274320"/>
          </a:xfrm>
          <a:prstGeom prst="rect">
            <a:avLst/>
          </a:prstGeom>
          <a:noFill/>
          <a:ln/>
        </p:spPr>
        <p:txBody>
          <a:bodyPr wrap="square" rtlCol="0" anchor="ctr"/>
          <a:lstStyle/>
          <a:p>
            <a:pPr marL="0" indent="0">
              <a:buNone/>
            </a:pPr>
            <a:r>
              <a:rPr lang="en-US" sz="1250" b="1" dirty="0">
                <a:solidFill>
                  <a:srgbClr val="0F172A"/>
                </a:solidFill>
                <a:latin typeface="Segoe UI" pitchFamily="34" charset="0"/>
                <a:ea typeface="Segoe UI" pitchFamily="34" charset="-122"/>
                <a:cs typeface="Segoe UI" pitchFamily="34" charset="-120"/>
              </a:rPr>
              <a:t>TIER 2: APPLICATION &amp; API GATEWAY LAYER (Node.js + Express 5)</a:t>
            </a:r>
            <a:endParaRPr lang="en-US" sz="1250" dirty="0"/>
          </a:p>
        </p:txBody>
      </p:sp>
      <p:sp>
        <p:nvSpPr>
          <p:cNvPr id="14" name="Shape 12"/>
          <p:cNvSpPr/>
          <p:nvPr/>
        </p:nvSpPr>
        <p:spPr>
          <a:xfrm>
            <a:off x="9784080" y="3172968"/>
            <a:ext cx="1371600" cy="256032"/>
          </a:xfrm>
          <a:prstGeom prst="rect">
            <a:avLst/>
          </a:prstGeom>
          <a:solidFill>
            <a:srgbClr val="0F172A"/>
          </a:solidFill>
          <a:ln/>
        </p:spPr>
      </p:sp>
      <p:sp>
        <p:nvSpPr>
          <p:cNvPr id="15" name="Text 13"/>
          <p:cNvSpPr/>
          <p:nvPr/>
        </p:nvSpPr>
        <p:spPr>
          <a:xfrm>
            <a:off x="9784080" y="3172968"/>
            <a:ext cx="1371600" cy="256032"/>
          </a:xfrm>
          <a:prstGeom prst="rect">
            <a:avLst/>
          </a:prstGeom>
          <a:noFill/>
          <a:ln/>
        </p:spPr>
        <p:txBody>
          <a:bodyPr wrap="square" rtlCol="0" anchor="ctr"/>
          <a:lstStyle/>
          <a:p>
            <a:pPr marL="0" indent="0" algn="ctr">
              <a:buNone/>
            </a:pPr>
            <a:r>
              <a:rPr lang="en-US" sz="900" b="1" dirty="0">
                <a:solidFill>
                  <a:srgbClr val="6366F1"/>
                </a:solidFill>
                <a:latin typeface="Segoe UI" pitchFamily="34" charset="0"/>
                <a:ea typeface="Segoe UI" pitchFamily="34" charset="-122"/>
                <a:cs typeface="Segoe UI" pitchFamily="34" charset="-120"/>
              </a:rPr>
              <a:t>BACKEND API</a:t>
            </a:r>
            <a:endParaRPr lang="en-US" sz="900" dirty="0"/>
          </a:p>
        </p:txBody>
      </p:sp>
      <p:sp>
        <p:nvSpPr>
          <p:cNvPr id="16" name="Text 14"/>
          <p:cNvSpPr/>
          <p:nvPr/>
        </p:nvSpPr>
        <p:spPr>
          <a:xfrm>
            <a:off x="1005840" y="3474720"/>
            <a:ext cx="10149840" cy="822960"/>
          </a:xfrm>
          <a:prstGeom prst="rect">
            <a:avLst/>
          </a:prstGeom>
          <a:noFill/>
          <a:ln/>
        </p:spPr>
        <p:txBody>
          <a:bodyPr wrap="square" rtlCol="0" anchor="ctr"/>
          <a:lstStyle/>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 Security Middlewares: CORS whitelist, Cookie Session, JWT Bearer verifier, Role Check (RBAC)</a:t>
            </a:r>
            <a:endParaRPr lang="en-US" sz="1050" dirty="0"/>
          </a:p>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 11 RESTful Controllers: /auth, /users, /workspaces, /projects, /epics, /tasks, /comments, /activities</a:t>
            </a:r>
            <a:endParaRPr lang="en-US" sz="1050" dirty="0"/>
          </a:p>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 Validation &amp; Logging: Zod request validation, CastError handling, automated activity audit triggers</a:t>
            </a:r>
            <a:endParaRPr lang="en-US" sz="1050" dirty="0"/>
          </a:p>
        </p:txBody>
      </p:sp>
      <p:sp>
        <p:nvSpPr>
          <p:cNvPr id="17" name="Shape 15"/>
          <p:cNvSpPr/>
          <p:nvPr/>
        </p:nvSpPr>
        <p:spPr>
          <a:xfrm>
            <a:off x="731520" y="4572000"/>
            <a:ext cx="10698480" cy="1325880"/>
          </a:xfrm>
          <a:prstGeom prst="rect">
            <a:avLst/>
          </a:prstGeom>
          <a:solidFill>
            <a:srgbClr val="F0FDF4"/>
          </a:solidFill>
          <a:ln w="19050">
            <a:solidFill>
              <a:srgbClr val="BBF7D0"/>
            </a:solidFill>
            <a:prstDash val="solid"/>
          </a:ln>
        </p:spPr>
      </p:sp>
      <p:sp>
        <p:nvSpPr>
          <p:cNvPr id="18" name="Text 16"/>
          <p:cNvSpPr/>
          <p:nvPr/>
        </p:nvSpPr>
        <p:spPr>
          <a:xfrm>
            <a:off x="1005840" y="4681728"/>
            <a:ext cx="7772400" cy="274320"/>
          </a:xfrm>
          <a:prstGeom prst="rect">
            <a:avLst/>
          </a:prstGeom>
          <a:noFill/>
          <a:ln/>
        </p:spPr>
        <p:txBody>
          <a:bodyPr wrap="square" rtlCol="0" anchor="ctr"/>
          <a:lstStyle/>
          <a:p>
            <a:pPr marL="0" indent="0">
              <a:buNone/>
            </a:pPr>
            <a:r>
              <a:rPr lang="en-US" sz="1250" b="1" dirty="0">
                <a:solidFill>
                  <a:srgbClr val="0F172A"/>
                </a:solidFill>
                <a:latin typeface="Segoe UI" pitchFamily="34" charset="0"/>
                <a:ea typeface="Segoe UI" pitchFamily="34" charset="-122"/>
                <a:cs typeface="Segoe UI" pitchFamily="34" charset="-120"/>
              </a:rPr>
              <a:t>TIER 3: DATA PERSISTENCE LAYER (MongoDB Atlas + Mongoose)</a:t>
            </a:r>
            <a:endParaRPr lang="en-US" sz="1250" dirty="0"/>
          </a:p>
        </p:txBody>
      </p:sp>
      <p:sp>
        <p:nvSpPr>
          <p:cNvPr id="19" name="Shape 17"/>
          <p:cNvSpPr/>
          <p:nvPr/>
        </p:nvSpPr>
        <p:spPr>
          <a:xfrm>
            <a:off x="9784080" y="4681728"/>
            <a:ext cx="1371600" cy="256032"/>
          </a:xfrm>
          <a:prstGeom prst="rect">
            <a:avLst/>
          </a:prstGeom>
          <a:solidFill>
            <a:srgbClr val="0F172A"/>
          </a:solidFill>
          <a:ln/>
        </p:spPr>
      </p:sp>
      <p:sp>
        <p:nvSpPr>
          <p:cNvPr id="20" name="Text 18"/>
          <p:cNvSpPr/>
          <p:nvPr/>
        </p:nvSpPr>
        <p:spPr>
          <a:xfrm>
            <a:off x="9784080" y="4681728"/>
            <a:ext cx="1371600" cy="256032"/>
          </a:xfrm>
          <a:prstGeom prst="rect">
            <a:avLst/>
          </a:prstGeom>
          <a:noFill/>
          <a:ln/>
        </p:spPr>
        <p:txBody>
          <a:bodyPr wrap="square" rtlCol="0" anchor="ctr"/>
          <a:lstStyle/>
          <a:p>
            <a:pPr marL="0" indent="0" algn="ctr">
              <a:buNone/>
            </a:pPr>
            <a:r>
              <a:rPr lang="en-US" sz="900" b="1" dirty="0">
                <a:solidFill>
                  <a:srgbClr val="10B981"/>
                </a:solidFill>
                <a:latin typeface="Segoe UI" pitchFamily="34" charset="0"/>
                <a:ea typeface="Segoe UI" pitchFamily="34" charset="-122"/>
                <a:cs typeface="Segoe UI" pitchFamily="34" charset="-120"/>
              </a:rPr>
              <a:t>DATABASE</a:t>
            </a:r>
            <a:endParaRPr lang="en-US" sz="900" dirty="0"/>
          </a:p>
        </p:txBody>
      </p:sp>
      <p:sp>
        <p:nvSpPr>
          <p:cNvPr id="21" name="Text 19"/>
          <p:cNvSpPr/>
          <p:nvPr/>
        </p:nvSpPr>
        <p:spPr>
          <a:xfrm>
            <a:off x="1005840" y="4983480"/>
            <a:ext cx="10149840" cy="822960"/>
          </a:xfrm>
          <a:prstGeom prst="rect">
            <a:avLst/>
          </a:prstGeom>
          <a:noFill/>
          <a:ln/>
        </p:spPr>
        <p:txBody>
          <a:bodyPr wrap="square" rtlCol="0" anchor="ctr"/>
          <a:lstStyle/>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 9 Normalized Mongoose Collections: Users, Workspaces, Projects, Epics, Tasks, Comments, Activities</a:t>
            </a:r>
            <a:endParaRPr lang="en-US" sz="1050" dirty="0"/>
          </a:p>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 Relational Schema Integrity: Foreign key ObjectIds, cascade deletion hooks, and composite indexes</a:t>
            </a:r>
            <a:endParaRPr lang="en-US" sz="1050" dirty="0"/>
          </a:p>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 Cloud DNS Optimization: Cloudflare 1.1.1.1 &amp; Google 8.8.8.8 SRV resolvers for guaranteed cloud uptime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marL="0" indent="0">
              <a:buNone/>
            </a:pPr>
            <a:r>
              <a:rPr lang="en-US" sz="1000" b="1" dirty="0">
                <a:solidFill>
                  <a:srgbClr val="4F46E5"/>
                </a:solidFill>
                <a:latin typeface="Segoe UI" pitchFamily="34" charset="0"/>
                <a:ea typeface="Segoe UI" pitchFamily="34" charset="-122"/>
                <a:cs typeface="Segoe UI" pitchFamily="34" charset="-120"/>
              </a:rPr>
              <a:t>CORE CAPABILITIES</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Key Functional Modules &amp; Feature Suite</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Comprehensive suite of enterprise collaboration and sprint tracking capabilities</a:t>
            </a:r>
            <a:endParaRPr lang="en-US" sz="1200" dirty="0"/>
          </a:p>
        </p:txBody>
      </p:sp>
      <p:sp>
        <p:nvSpPr>
          <p:cNvPr id="5" name="Shape 3"/>
          <p:cNvSpPr/>
          <p:nvPr/>
        </p:nvSpPr>
        <p:spPr>
          <a:xfrm>
            <a:off x="9875520" y="365760"/>
            <a:ext cx="1828800" cy="320040"/>
          </a:xfrm>
          <a:prstGeom prst="rect">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marL="0" indent="0" algn="ctr">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3383280" cy="2103120"/>
          </a:xfrm>
          <a:prstGeom prst="rect">
            <a:avLst/>
          </a:prstGeom>
          <a:solidFill>
            <a:srgbClr val="FFFFFF"/>
          </a:solidFill>
          <a:ln w="12700">
            <a:solidFill>
              <a:srgbClr val="E2E8F0"/>
            </a:solidFill>
            <a:prstDash val="solid"/>
          </a:ln>
        </p:spPr>
      </p:sp>
      <p:sp>
        <p:nvSpPr>
          <p:cNvPr id="8" name="Text 6"/>
          <p:cNvSpPr/>
          <p:nvPr/>
        </p:nvSpPr>
        <p:spPr>
          <a:xfrm>
            <a:off x="914400" y="1737360"/>
            <a:ext cx="548640" cy="36576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9" name="Text 7"/>
          <p:cNvSpPr/>
          <p:nvPr/>
        </p:nvSpPr>
        <p:spPr>
          <a:xfrm>
            <a:off x="1463040" y="1737360"/>
            <a:ext cx="2468880" cy="365760"/>
          </a:xfrm>
          <a:prstGeom prst="rect">
            <a:avLst/>
          </a:prstGeom>
          <a:noFill/>
          <a:ln/>
        </p:spPr>
        <p:txBody>
          <a:bodyPr wrap="square"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Multi-Tenant Workspaces</a:t>
            </a:r>
            <a:endParaRPr lang="en-US" sz="1300" dirty="0"/>
          </a:p>
        </p:txBody>
      </p:sp>
      <p:sp>
        <p:nvSpPr>
          <p:cNvPr id="10" name="Text 8"/>
          <p:cNvSpPr/>
          <p:nvPr/>
        </p:nvSpPr>
        <p:spPr>
          <a:xfrm>
            <a:off x="914400" y="2240280"/>
            <a:ext cx="3017520" cy="1234440"/>
          </a:xfrm>
          <a:prstGeom prst="rect">
            <a:avLst/>
          </a:prstGeom>
          <a:noFill/>
          <a:ln/>
        </p:spPr>
        <p:txBody>
          <a:bodyPr wrap="square" rtlCol="0" anchor="ctr"/>
          <a:lstStyle/>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Isolated organization contexts with custom branding, member directories, and easy switching.</a:t>
            </a:r>
            <a:endParaRPr lang="en-US" sz="1050" dirty="0"/>
          </a:p>
        </p:txBody>
      </p:sp>
      <p:sp>
        <p:nvSpPr>
          <p:cNvPr id="11" name="Shape 9"/>
          <p:cNvSpPr/>
          <p:nvPr/>
        </p:nvSpPr>
        <p:spPr>
          <a:xfrm>
            <a:off x="4389120" y="1554480"/>
            <a:ext cx="3383280" cy="2103120"/>
          </a:xfrm>
          <a:prstGeom prst="rect">
            <a:avLst/>
          </a:prstGeom>
          <a:solidFill>
            <a:srgbClr val="FFFFFF"/>
          </a:solidFill>
          <a:ln w="12700">
            <a:solidFill>
              <a:srgbClr val="E2E8F0"/>
            </a:solidFill>
            <a:prstDash val="solid"/>
          </a:ln>
        </p:spPr>
      </p:sp>
      <p:sp>
        <p:nvSpPr>
          <p:cNvPr id="12" name="Text 10"/>
          <p:cNvSpPr/>
          <p:nvPr/>
        </p:nvSpPr>
        <p:spPr>
          <a:xfrm>
            <a:off x="4572000" y="1737360"/>
            <a:ext cx="548640" cy="36576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13" name="Text 11"/>
          <p:cNvSpPr/>
          <p:nvPr/>
        </p:nvSpPr>
        <p:spPr>
          <a:xfrm>
            <a:off x="5120640" y="1737360"/>
            <a:ext cx="2468880" cy="365760"/>
          </a:xfrm>
          <a:prstGeom prst="rect">
            <a:avLst/>
          </a:prstGeom>
          <a:noFill/>
          <a:ln/>
        </p:spPr>
        <p:txBody>
          <a:bodyPr wrap="square"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Projects &amp; Epics Hub</a:t>
            </a:r>
            <a:endParaRPr lang="en-US" sz="1300" dirty="0"/>
          </a:p>
        </p:txBody>
      </p:sp>
      <p:sp>
        <p:nvSpPr>
          <p:cNvPr id="14" name="Text 12"/>
          <p:cNvSpPr/>
          <p:nvPr/>
        </p:nvSpPr>
        <p:spPr>
          <a:xfrm>
            <a:off x="4572000" y="2240280"/>
            <a:ext cx="3017520" cy="1234440"/>
          </a:xfrm>
          <a:prstGeom prst="rect">
            <a:avLst/>
          </a:prstGeom>
          <a:noFill/>
          <a:ln/>
        </p:spPr>
        <p:txBody>
          <a:bodyPr wrap="square" rtlCol="0" anchor="ctr"/>
          <a:lstStyle/>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Hierarchical project management with unique project keys (e.g., SIGMA-101) and epic roadmaps.</a:t>
            </a:r>
            <a:endParaRPr lang="en-US" sz="1050" dirty="0"/>
          </a:p>
        </p:txBody>
      </p:sp>
      <p:sp>
        <p:nvSpPr>
          <p:cNvPr id="15" name="Shape 13"/>
          <p:cNvSpPr/>
          <p:nvPr/>
        </p:nvSpPr>
        <p:spPr>
          <a:xfrm>
            <a:off x="8046720" y="1554480"/>
            <a:ext cx="3383280" cy="2103120"/>
          </a:xfrm>
          <a:prstGeom prst="rect">
            <a:avLst/>
          </a:prstGeom>
          <a:solidFill>
            <a:srgbClr val="FFFFFF"/>
          </a:solidFill>
          <a:ln w="12700">
            <a:solidFill>
              <a:srgbClr val="E2E8F0"/>
            </a:solidFill>
            <a:prstDash val="solid"/>
          </a:ln>
        </p:spPr>
      </p:sp>
      <p:sp>
        <p:nvSpPr>
          <p:cNvPr id="16" name="Text 14"/>
          <p:cNvSpPr/>
          <p:nvPr/>
        </p:nvSpPr>
        <p:spPr>
          <a:xfrm>
            <a:off x="8229600" y="1737360"/>
            <a:ext cx="548640" cy="36576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17" name="Text 15"/>
          <p:cNvSpPr/>
          <p:nvPr/>
        </p:nvSpPr>
        <p:spPr>
          <a:xfrm>
            <a:off x="8778240" y="1737360"/>
            <a:ext cx="2468880" cy="365760"/>
          </a:xfrm>
          <a:prstGeom prst="rect">
            <a:avLst/>
          </a:prstGeom>
          <a:noFill/>
          <a:ln/>
        </p:spPr>
        <p:txBody>
          <a:bodyPr wrap="square"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Interactive Kanban Board</a:t>
            </a:r>
            <a:endParaRPr lang="en-US" sz="1300" dirty="0"/>
          </a:p>
        </p:txBody>
      </p:sp>
      <p:sp>
        <p:nvSpPr>
          <p:cNvPr id="18" name="Text 16"/>
          <p:cNvSpPr/>
          <p:nvPr/>
        </p:nvSpPr>
        <p:spPr>
          <a:xfrm>
            <a:off x="8229600" y="2240280"/>
            <a:ext cx="3017520" cy="1234440"/>
          </a:xfrm>
          <a:prstGeom prst="rect">
            <a:avLst/>
          </a:prstGeom>
          <a:noFill/>
          <a:ln/>
        </p:spPr>
        <p:txBody>
          <a:bodyPr wrap="square" rtlCol="0" anchor="ctr"/>
          <a:lstStyle/>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Live status lanes (To Do, In Progress, In Review, Done) with priority tags and modal detail editors.</a:t>
            </a:r>
            <a:endParaRPr lang="en-US" sz="1050" dirty="0"/>
          </a:p>
        </p:txBody>
      </p:sp>
      <p:sp>
        <p:nvSpPr>
          <p:cNvPr id="19" name="Shape 17"/>
          <p:cNvSpPr/>
          <p:nvPr/>
        </p:nvSpPr>
        <p:spPr>
          <a:xfrm>
            <a:off x="731520" y="3840480"/>
            <a:ext cx="3383280" cy="2103120"/>
          </a:xfrm>
          <a:prstGeom prst="rect">
            <a:avLst/>
          </a:prstGeom>
          <a:solidFill>
            <a:srgbClr val="FFFFFF"/>
          </a:solidFill>
          <a:ln w="12700">
            <a:solidFill>
              <a:srgbClr val="E2E8F0"/>
            </a:solidFill>
            <a:prstDash val="solid"/>
          </a:ln>
        </p:spPr>
      </p:sp>
      <p:sp>
        <p:nvSpPr>
          <p:cNvPr id="20" name="Text 18"/>
          <p:cNvSpPr/>
          <p:nvPr/>
        </p:nvSpPr>
        <p:spPr>
          <a:xfrm>
            <a:off x="914400" y="4023360"/>
            <a:ext cx="548640" cy="36576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21" name="Text 19"/>
          <p:cNvSpPr/>
          <p:nvPr/>
        </p:nvSpPr>
        <p:spPr>
          <a:xfrm>
            <a:off x="1463040" y="4023360"/>
            <a:ext cx="2468880" cy="365760"/>
          </a:xfrm>
          <a:prstGeom prst="rect">
            <a:avLst/>
          </a:prstGeom>
          <a:noFill/>
          <a:ln/>
        </p:spPr>
        <p:txBody>
          <a:bodyPr wrap="square"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Role-Based Access (RBAC)</a:t>
            </a:r>
            <a:endParaRPr lang="en-US" sz="1300" dirty="0"/>
          </a:p>
        </p:txBody>
      </p:sp>
      <p:sp>
        <p:nvSpPr>
          <p:cNvPr id="22" name="Text 20"/>
          <p:cNvSpPr/>
          <p:nvPr/>
        </p:nvSpPr>
        <p:spPr>
          <a:xfrm>
            <a:off x="914400" y="4526280"/>
            <a:ext cx="3017520" cy="1234440"/>
          </a:xfrm>
          <a:prstGeom prst="rect">
            <a:avLst/>
          </a:prstGeom>
          <a:noFill/>
          <a:ln/>
        </p:spPr>
        <p:txBody>
          <a:bodyPr wrap="square" rtlCol="0" anchor="ctr"/>
          <a:lstStyle/>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Granular permissions for Owner, Admin, Member, and Viewer with token-based email invite links.</a:t>
            </a:r>
            <a:endParaRPr lang="en-US" sz="1050" dirty="0"/>
          </a:p>
        </p:txBody>
      </p:sp>
      <p:sp>
        <p:nvSpPr>
          <p:cNvPr id="23" name="Shape 21"/>
          <p:cNvSpPr/>
          <p:nvPr/>
        </p:nvSpPr>
        <p:spPr>
          <a:xfrm>
            <a:off x="4389120" y="3840480"/>
            <a:ext cx="3383280" cy="2103120"/>
          </a:xfrm>
          <a:prstGeom prst="rect">
            <a:avLst/>
          </a:prstGeom>
          <a:solidFill>
            <a:srgbClr val="FFFFFF"/>
          </a:solidFill>
          <a:ln w="12700">
            <a:solidFill>
              <a:srgbClr val="E2E8F0"/>
            </a:solidFill>
            <a:prstDash val="solid"/>
          </a:ln>
        </p:spPr>
      </p:sp>
      <p:sp>
        <p:nvSpPr>
          <p:cNvPr id="24" name="Text 22"/>
          <p:cNvSpPr/>
          <p:nvPr/>
        </p:nvSpPr>
        <p:spPr>
          <a:xfrm>
            <a:off x="4572000" y="4023360"/>
            <a:ext cx="548640" cy="36576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25" name="Text 23"/>
          <p:cNvSpPr/>
          <p:nvPr/>
        </p:nvSpPr>
        <p:spPr>
          <a:xfrm>
            <a:off x="5120640" y="4023360"/>
            <a:ext cx="2468880" cy="365760"/>
          </a:xfrm>
          <a:prstGeom prst="rect">
            <a:avLst/>
          </a:prstGeom>
          <a:noFill/>
          <a:ln/>
        </p:spPr>
        <p:txBody>
          <a:bodyPr wrap="square"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Audit Logs &amp; Activity Stream</a:t>
            </a:r>
            <a:endParaRPr lang="en-US" sz="1300" dirty="0"/>
          </a:p>
        </p:txBody>
      </p:sp>
      <p:sp>
        <p:nvSpPr>
          <p:cNvPr id="26" name="Text 24"/>
          <p:cNvSpPr/>
          <p:nvPr/>
        </p:nvSpPr>
        <p:spPr>
          <a:xfrm>
            <a:off x="4572000" y="4526280"/>
            <a:ext cx="3017520" cy="1234440"/>
          </a:xfrm>
          <a:prstGeom prst="rect">
            <a:avLst/>
          </a:prstGeom>
          <a:noFill/>
          <a:ln/>
        </p:spPr>
        <p:txBody>
          <a:bodyPr wrap="square" rtlCol="0" anchor="ctr"/>
          <a:lstStyle/>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Chronological event interception recording task moves, member joins, and milestone completions.</a:t>
            </a:r>
            <a:endParaRPr lang="en-US" sz="1050" dirty="0"/>
          </a:p>
        </p:txBody>
      </p:sp>
      <p:sp>
        <p:nvSpPr>
          <p:cNvPr id="27" name="Shape 25"/>
          <p:cNvSpPr/>
          <p:nvPr/>
        </p:nvSpPr>
        <p:spPr>
          <a:xfrm>
            <a:off x="8046720" y="3840480"/>
            <a:ext cx="3383280" cy="2103120"/>
          </a:xfrm>
          <a:prstGeom prst="rect">
            <a:avLst/>
          </a:prstGeom>
          <a:solidFill>
            <a:srgbClr val="FFFFFF"/>
          </a:solidFill>
          <a:ln w="12700">
            <a:solidFill>
              <a:srgbClr val="E2E8F0"/>
            </a:solidFill>
            <a:prstDash val="solid"/>
          </a:ln>
        </p:spPr>
      </p:sp>
      <p:sp>
        <p:nvSpPr>
          <p:cNvPr id="28" name="Text 26"/>
          <p:cNvSpPr/>
          <p:nvPr/>
        </p:nvSpPr>
        <p:spPr>
          <a:xfrm>
            <a:off x="8229600" y="4023360"/>
            <a:ext cx="548640" cy="36576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29" name="Text 27"/>
          <p:cNvSpPr/>
          <p:nvPr/>
        </p:nvSpPr>
        <p:spPr>
          <a:xfrm>
            <a:off x="8778240" y="4023360"/>
            <a:ext cx="2468880" cy="365760"/>
          </a:xfrm>
          <a:prstGeom prst="rect">
            <a:avLst/>
          </a:prstGeom>
          <a:noFill/>
          <a:ln/>
        </p:spPr>
        <p:txBody>
          <a:bodyPr wrap="square"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Real-Time Analytics Dashboard</a:t>
            </a:r>
            <a:endParaRPr lang="en-US" sz="1300" dirty="0"/>
          </a:p>
        </p:txBody>
      </p:sp>
      <p:sp>
        <p:nvSpPr>
          <p:cNvPr id="30" name="Text 28"/>
          <p:cNvSpPr/>
          <p:nvPr/>
        </p:nvSpPr>
        <p:spPr>
          <a:xfrm>
            <a:off x="8229600" y="4526280"/>
            <a:ext cx="3017520" cy="1234440"/>
          </a:xfrm>
          <a:prstGeom prst="rect">
            <a:avLst/>
          </a:prstGeom>
          <a:noFill/>
          <a:ln/>
        </p:spPr>
        <p:txBody>
          <a:bodyPr wrap="square" rtlCol="0" anchor="ctr"/>
          <a:lstStyle/>
          <a:p>
            <a:pPr marL="0" indent="0">
              <a:lnSpc>
                <a:spcPts val="1600"/>
              </a:lnSpc>
              <a:buNone/>
            </a:pPr>
            <a:r>
              <a:rPr lang="en-US" sz="1050" dirty="0">
                <a:solidFill>
                  <a:srgbClr val="475569"/>
                </a:solidFill>
                <a:latin typeface="Segoe UI" pitchFamily="34" charset="0"/>
                <a:ea typeface="Segoe UI" pitchFamily="34" charset="-122"/>
                <a:cs typeface="Segoe UI" pitchFamily="34" charset="-120"/>
              </a:rPr>
              <a:t>Visual charts for sprint velocity, task status breakdown, priority distribution, and completion rates.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marL="0" indent="0">
              <a:buNone/>
            </a:pPr>
            <a:r>
              <a:rPr lang="en-US" sz="1000" b="1" dirty="0">
                <a:solidFill>
                  <a:srgbClr val="4F46E5"/>
                </a:solidFill>
                <a:latin typeface="Segoe UI" pitchFamily="34" charset="0"/>
                <a:ea typeface="Segoe UI" pitchFamily="34" charset="-122"/>
                <a:cs typeface="Segoe UI" pitchFamily="34" charset="-120"/>
              </a:rPr>
              <a:t>PERSONAL IMPACT</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My Contributions &amp; Key Engineering Deliverables</a:t>
            </a:r>
            <a:endParaRPr lang="en-US" sz="2200" dirty="0"/>
          </a:p>
        </p:txBody>
      </p:sp>
      <p:sp>
        <p:nvSpPr>
          <p:cNvPr id="4" name="Text 2"/>
          <p:cNvSpPr/>
          <p:nvPr/>
        </p:nvSpPr>
        <p:spPr>
          <a:xfrm>
            <a:off x="738447" y="1120140"/>
            <a:ext cx="1051560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Direct technical contributions made during the 4-week internship at AMSYS Infocom</a:t>
            </a:r>
            <a:endParaRPr lang="en-US" sz="1200" dirty="0"/>
          </a:p>
        </p:txBody>
      </p:sp>
      <p:sp>
        <p:nvSpPr>
          <p:cNvPr id="5" name="Shape 3"/>
          <p:cNvSpPr/>
          <p:nvPr/>
        </p:nvSpPr>
        <p:spPr>
          <a:xfrm>
            <a:off x="9875520" y="365760"/>
            <a:ext cx="1828800" cy="320040"/>
          </a:xfrm>
          <a:prstGeom prst="rect">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marL="0" indent="0" algn="ctr">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5212080" cy="4480560"/>
          </a:xfrm>
          <a:prstGeom prst="rect">
            <a:avLst/>
          </a:prstGeom>
          <a:solidFill>
            <a:srgbClr val="FFFFFF"/>
          </a:solidFill>
          <a:ln w="12700">
            <a:solidFill>
              <a:srgbClr val="E2E8F0"/>
            </a:solidFill>
            <a:prstDash val="solid"/>
          </a:ln>
        </p:spPr>
      </p:sp>
      <p:sp>
        <p:nvSpPr>
          <p:cNvPr id="8" name="Shape 6"/>
          <p:cNvSpPr/>
          <p:nvPr/>
        </p:nvSpPr>
        <p:spPr>
          <a:xfrm>
            <a:off x="1005840" y="1737360"/>
            <a:ext cx="4663440" cy="320040"/>
          </a:xfrm>
          <a:prstGeom prst="rect">
            <a:avLst/>
          </a:prstGeom>
          <a:solidFill>
            <a:srgbClr val="EEF2FF"/>
          </a:solidFill>
          <a:ln/>
        </p:spPr>
      </p:sp>
      <p:sp>
        <p:nvSpPr>
          <p:cNvPr id="9" name="Text 7"/>
          <p:cNvSpPr/>
          <p:nvPr/>
        </p:nvSpPr>
        <p:spPr>
          <a:xfrm>
            <a:off x="1097280" y="1737360"/>
            <a:ext cx="4480560" cy="320040"/>
          </a:xfrm>
          <a:prstGeom prst="rect">
            <a:avLst/>
          </a:prstGeom>
          <a:noFill/>
          <a:ln/>
        </p:spPr>
        <p:txBody>
          <a:bodyPr wrap="square" rtlCol="0" anchor="ctr"/>
          <a:lstStyle/>
          <a:p>
            <a:pPr marL="0" indent="0">
              <a:buNone/>
            </a:pPr>
            <a:r>
              <a:rPr lang="en-US" sz="1200" b="1" dirty="0">
                <a:solidFill>
                  <a:srgbClr val="4F46E5"/>
                </a:solidFill>
                <a:latin typeface="Segoe UI" pitchFamily="34" charset="0"/>
                <a:ea typeface="Segoe UI" pitchFamily="34" charset="-122"/>
                <a:cs typeface="Segoe UI" pitchFamily="34" charset="-120"/>
              </a:rPr>
              <a:t>💻 Backend &amp; Database Engineering</a:t>
            </a:r>
            <a:endParaRPr lang="en-US" sz="1200" dirty="0"/>
          </a:p>
        </p:txBody>
      </p:sp>
      <p:sp>
        <p:nvSpPr>
          <p:cNvPr id="10" name="Text 8"/>
          <p:cNvSpPr/>
          <p:nvPr/>
        </p:nvSpPr>
        <p:spPr>
          <a:xfrm>
            <a:off x="1005840" y="2148840"/>
            <a:ext cx="4663440" cy="3749040"/>
          </a:xfrm>
          <a:prstGeom prst="rect">
            <a:avLst/>
          </a:prstGeom>
          <a:noFill/>
          <a:ln/>
        </p:spPr>
        <p:txBody>
          <a:bodyPr wrap="square" rtlCol="0" anchor="ctr"/>
          <a:lstStyle/>
          <a:p>
            <a:pPr marL="0" indent="0">
              <a:lnSpc>
                <a:spcPts val="1500"/>
              </a:lnSpc>
              <a:buNone/>
            </a:pPr>
            <a:r>
              <a:rPr lang="en-US" sz="1050" dirty="0">
                <a:solidFill>
                  <a:srgbClr val="475569"/>
                </a:solidFill>
                <a:latin typeface="Segoe UI" pitchFamily="34" charset="0"/>
                <a:ea typeface="Segoe UI" pitchFamily="34" charset="-122"/>
                <a:cs typeface="Segoe UI" pitchFamily="34" charset="-120"/>
              </a:rPr>
              <a:t>• RESTful API Architecture: Engineered 11 API controllers (/auth, /workspaces, /projects, /epics, /tasks, /activities, /analytics).</a:t>
            </a:r>
            <a:endParaRPr lang="en-US" sz="1050" dirty="0"/>
          </a:p>
          <a:p>
            <a:pPr marL="0" indent="0">
              <a:lnSpc>
                <a:spcPts val="1500"/>
              </a:lnSpc>
              <a:buNone/>
            </a:pPr>
            <a:endParaRPr lang="en-US" sz="1050" dirty="0"/>
          </a:p>
          <a:p>
            <a:pPr marL="0" indent="0">
              <a:lnSpc>
                <a:spcPts val="1500"/>
              </a:lnSpc>
              <a:buNone/>
            </a:pPr>
            <a:r>
              <a:rPr lang="en-US" sz="1050" dirty="0">
                <a:solidFill>
                  <a:srgbClr val="475569"/>
                </a:solidFill>
                <a:latin typeface="Segoe UI" pitchFamily="34" charset="0"/>
                <a:ea typeface="Segoe UI" pitchFamily="34" charset="-122"/>
                <a:cs typeface="Segoe UI" pitchFamily="34" charset="-120"/>
              </a:rPr>
              <a:t>• Schema Modeling: Designed 9 normalized Mongoose schemas with indexed foreign keys, cascade hooks, and populated references.</a:t>
            </a:r>
            <a:endParaRPr lang="en-US" sz="1050" dirty="0"/>
          </a:p>
          <a:p>
            <a:pPr marL="0" indent="0">
              <a:lnSpc>
                <a:spcPts val="1500"/>
              </a:lnSpc>
              <a:buNone/>
            </a:pPr>
            <a:endParaRPr lang="en-US" sz="1050" dirty="0"/>
          </a:p>
          <a:p>
            <a:pPr marL="0" indent="0">
              <a:lnSpc>
                <a:spcPts val="1500"/>
              </a:lnSpc>
              <a:buNone/>
            </a:pPr>
            <a:r>
              <a:rPr lang="en-US" sz="1050" dirty="0">
                <a:solidFill>
                  <a:srgbClr val="475569"/>
                </a:solidFill>
                <a:latin typeface="Segoe UI" pitchFamily="34" charset="0"/>
                <a:ea typeface="Segoe UI" pitchFamily="34" charset="-122"/>
                <a:cs typeface="Segoe UI" pitchFamily="34" charset="-120"/>
              </a:rPr>
              <a:t>• Authentication Engine: Built dual-auth system integrating JWT bearer tokens and Passport.js Google OAuth 2.0 with Bcrypt password hashing.</a:t>
            </a:r>
            <a:endParaRPr lang="en-US" sz="1050" dirty="0"/>
          </a:p>
          <a:p>
            <a:pPr marL="0" indent="0">
              <a:lnSpc>
                <a:spcPts val="1500"/>
              </a:lnSpc>
              <a:buNone/>
            </a:pPr>
            <a:endParaRPr lang="en-US" sz="1050" dirty="0"/>
          </a:p>
          <a:p>
            <a:pPr marL="0" indent="0">
              <a:lnSpc>
                <a:spcPts val="1500"/>
              </a:lnSpc>
              <a:buNone/>
            </a:pPr>
            <a:r>
              <a:rPr lang="en-US" sz="1050" dirty="0">
                <a:solidFill>
                  <a:srgbClr val="475569"/>
                </a:solidFill>
                <a:latin typeface="Segoe UI" pitchFamily="34" charset="0"/>
                <a:ea typeface="Segoe UI" pitchFamily="34" charset="-122"/>
                <a:cs typeface="Segoe UI" pitchFamily="34" charset="-120"/>
              </a:rPr>
              <a:t>• Security &amp; Validation: Enforced strict Zod runtime payload validators, CORS whitelisting, and centralized CastError/ValidationError middleware.</a:t>
            </a:r>
            <a:endParaRPr lang="en-US" sz="1050" dirty="0"/>
          </a:p>
          <a:p>
            <a:pPr marL="0" indent="0">
              <a:lnSpc>
                <a:spcPts val="1500"/>
              </a:lnSpc>
              <a:buNone/>
            </a:pPr>
            <a:endParaRPr lang="en-US" sz="1050" dirty="0"/>
          </a:p>
          <a:p>
            <a:pPr marL="0" indent="0">
              <a:lnSpc>
                <a:spcPts val="1500"/>
              </a:lnSpc>
              <a:buNone/>
            </a:pPr>
            <a:r>
              <a:rPr lang="en-US" sz="1050" dirty="0">
                <a:solidFill>
                  <a:srgbClr val="475569"/>
                </a:solidFill>
                <a:latin typeface="Segoe UI" pitchFamily="34" charset="0"/>
                <a:ea typeface="Segoe UI" pitchFamily="34" charset="-122"/>
                <a:cs typeface="Segoe UI" pitchFamily="34" charset="-120"/>
              </a:rPr>
              <a:t>• Seed &amp; Verification Tools: Wrote automated database seeding scripts (`seed.js`) and health verification utilities (`verifyBackend.js`).</a:t>
            </a:r>
            <a:endParaRPr lang="en-US" sz="1050" dirty="0"/>
          </a:p>
        </p:txBody>
      </p:sp>
      <p:sp>
        <p:nvSpPr>
          <p:cNvPr id="11" name="Shape 9"/>
          <p:cNvSpPr/>
          <p:nvPr/>
        </p:nvSpPr>
        <p:spPr>
          <a:xfrm>
            <a:off x="6217920" y="1554480"/>
            <a:ext cx="5212080" cy="4480560"/>
          </a:xfrm>
          <a:prstGeom prst="rect">
            <a:avLst/>
          </a:prstGeom>
          <a:solidFill>
            <a:srgbClr val="FFFFFF"/>
          </a:solidFill>
          <a:ln w="12700">
            <a:solidFill>
              <a:srgbClr val="E2E8F0"/>
            </a:solidFill>
            <a:prstDash val="solid"/>
          </a:ln>
        </p:spPr>
      </p:sp>
      <p:sp>
        <p:nvSpPr>
          <p:cNvPr id="12" name="Shape 10"/>
          <p:cNvSpPr/>
          <p:nvPr/>
        </p:nvSpPr>
        <p:spPr>
          <a:xfrm>
            <a:off x="6492240" y="1737360"/>
            <a:ext cx="4663440" cy="320040"/>
          </a:xfrm>
          <a:prstGeom prst="rect">
            <a:avLst/>
          </a:prstGeom>
          <a:solidFill>
            <a:srgbClr val="F0FDF4"/>
          </a:solidFill>
          <a:ln/>
        </p:spPr>
      </p:sp>
      <p:sp>
        <p:nvSpPr>
          <p:cNvPr id="13" name="Text 11"/>
          <p:cNvSpPr/>
          <p:nvPr/>
        </p:nvSpPr>
        <p:spPr>
          <a:xfrm>
            <a:off x="6583680" y="1737360"/>
            <a:ext cx="4480560" cy="320040"/>
          </a:xfrm>
          <a:prstGeom prst="rect">
            <a:avLst/>
          </a:prstGeom>
          <a:noFill/>
          <a:ln/>
        </p:spPr>
        <p:txBody>
          <a:bodyPr wrap="square" rtlCol="0" anchor="ctr"/>
          <a:lstStyle/>
          <a:p>
            <a:pPr marL="0" indent="0">
              <a:buNone/>
            </a:pPr>
            <a:r>
              <a:rPr lang="en-US" sz="1200" b="1" dirty="0">
                <a:solidFill>
                  <a:srgbClr val="059669"/>
                </a:solidFill>
                <a:latin typeface="Segoe UI" pitchFamily="34" charset="0"/>
                <a:ea typeface="Segoe UI" pitchFamily="34" charset="-122"/>
                <a:cs typeface="Segoe UI" pitchFamily="34" charset="-120"/>
              </a:rPr>
              <a:t>⚛️ Frontend &amp; Full-Stack Integration</a:t>
            </a:r>
            <a:endParaRPr lang="en-US" sz="1200" dirty="0"/>
          </a:p>
        </p:txBody>
      </p:sp>
      <p:sp>
        <p:nvSpPr>
          <p:cNvPr id="14" name="Text 12"/>
          <p:cNvSpPr/>
          <p:nvPr/>
        </p:nvSpPr>
        <p:spPr>
          <a:xfrm>
            <a:off x="6492240" y="2148840"/>
            <a:ext cx="4663440" cy="3749040"/>
          </a:xfrm>
          <a:prstGeom prst="rect">
            <a:avLst/>
          </a:prstGeom>
          <a:noFill/>
          <a:ln/>
        </p:spPr>
        <p:txBody>
          <a:bodyPr wrap="square" rtlCol="0" anchor="ctr"/>
          <a:lstStyle/>
          <a:p>
            <a:pPr marL="0" indent="0">
              <a:lnSpc>
                <a:spcPts val="1500"/>
              </a:lnSpc>
              <a:buNone/>
            </a:pPr>
            <a:r>
              <a:rPr lang="en-US" sz="1050" dirty="0">
                <a:solidFill>
                  <a:srgbClr val="475569"/>
                </a:solidFill>
                <a:latin typeface="Segoe UI" pitchFamily="34" charset="0"/>
                <a:ea typeface="Segoe UI" pitchFamily="34" charset="-122"/>
                <a:cs typeface="Segoe UI" pitchFamily="34" charset="-120"/>
              </a:rPr>
              <a:t>• SPA Architecture: Developed 10+ core pages (Dashboard, Projects, Kanban Tasks, Epics, Analytics, Team Management, Landing Page).</a:t>
            </a:r>
            <a:endParaRPr lang="en-US" sz="1050" dirty="0"/>
          </a:p>
          <a:p>
            <a:pPr marL="0" indent="0">
              <a:lnSpc>
                <a:spcPts val="1500"/>
              </a:lnSpc>
              <a:buNone/>
            </a:pPr>
            <a:endParaRPr lang="en-US" sz="1050" dirty="0"/>
          </a:p>
          <a:p>
            <a:pPr marL="0" indent="0">
              <a:lnSpc>
                <a:spcPts val="1500"/>
              </a:lnSpc>
              <a:buNone/>
            </a:pPr>
            <a:r>
              <a:rPr lang="en-US" sz="1050" dirty="0">
                <a:solidFill>
                  <a:srgbClr val="475569"/>
                </a:solidFill>
                <a:latin typeface="Segoe UI" pitchFamily="34" charset="0"/>
                <a:ea typeface="Segoe UI" pitchFamily="34" charset="-122"/>
                <a:cs typeface="Segoe UI" pitchFamily="34" charset="-120"/>
              </a:rPr>
              <a:t>• Global State Contexts: Implemented `AuthContext` and `WorkspaceContext` for seamless user session and active workspace persistence.</a:t>
            </a:r>
            <a:endParaRPr lang="en-US" sz="1050" dirty="0"/>
          </a:p>
          <a:p>
            <a:pPr marL="0" indent="0">
              <a:lnSpc>
                <a:spcPts val="1500"/>
              </a:lnSpc>
              <a:buNone/>
            </a:pPr>
            <a:endParaRPr lang="en-US" sz="1050" dirty="0"/>
          </a:p>
          <a:p>
            <a:pPr marL="0" indent="0">
              <a:lnSpc>
                <a:spcPts val="1500"/>
              </a:lnSpc>
              <a:buNone/>
            </a:pPr>
            <a:r>
              <a:rPr lang="en-US" sz="1050" dirty="0">
                <a:solidFill>
                  <a:srgbClr val="475569"/>
                </a:solidFill>
                <a:latin typeface="Segoe UI" pitchFamily="34" charset="0"/>
                <a:ea typeface="Segoe UI" pitchFamily="34" charset="-122"/>
                <a:cs typeface="Segoe UI" pitchFamily="34" charset="-120"/>
              </a:rPr>
              <a:t>• Reusable Component System: Built modular UI components including TaskDetailModal, StatusBadge, PriorityBadge, and Avatar generators.</a:t>
            </a:r>
            <a:endParaRPr lang="en-US" sz="1050" dirty="0"/>
          </a:p>
          <a:p>
            <a:pPr marL="0" indent="0">
              <a:lnSpc>
                <a:spcPts val="1500"/>
              </a:lnSpc>
              <a:buNone/>
            </a:pPr>
            <a:endParaRPr lang="en-US" sz="1050" dirty="0"/>
          </a:p>
          <a:p>
            <a:pPr marL="0" indent="0">
              <a:lnSpc>
                <a:spcPts val="1500"/>
              </a:lnSpc>
              <a:buNone/>
            </a:pPr>
            <a:r>
              <a:rPr lang="en-US" sz="1050" dirty="0">
                <a:solidFill>
                  <a:srgbClr val="475569"/>
                </a:solidFill>
                <a:latin typeface="Segoe UI" pitchFamily="34" charset="0"/>
                <a:ea typeface="Segoe UI" pitchFamily="34" charset="-122"/>
                <a:cs typeface="Segoe UI" pitchFamily="34" charset="-120"/>
              </a:rPr>
              <a:t>• API Integration Layer: Created 12 modular API client services (`client.js`, `taskApi`, `projectApi`, `activityApi`) with async/await error handling.</a:t>
            </a:r>
            <a:endParaRPr lang="en-US" sz="1050" dirty="0"/>
          </a:p>
          <a:p>
            <a:pPr marL="0" indent="0">
              <a:lnSpc>
                <a:spcPts val="1500"/>
              </a:lnSpc>
              <a:buNone/>
            </a:pPr>
            <a:endParaRPr lang="en-US" sz="1050" dirty="0"/>
          </a:p>
          <a:p>
            <a:pPr marL="0" indent="0">
              <a:lnSpc>
                <a:spcPts val="1500"/>
              </a:lnSpc>
              <a:buNone/>
            </a:pPr>
            <a:r>
              <a:rPr lang="en-US" sz="1050" dirty="0">
                <a:solidFill>
                  <a:srgbClr val="475569"/>
                </a:solidFill>
                <a:latin typeface="Segoe UI" pitchFamily="34" charset="0"/>
                <a:ea typeface="Segoe UI" pitchFamily="34" charset="-122"/>
                <a:cs typeface="Segoe UI" pitchFamily="34" charset="-120"/>
              </a:rPr>
              <a:t>• UI/UX Design System: Crafted a responsive, glassmorphic dark-themed interface with custom CSS tokens and micro-interactions.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marL="0" indent="0">
              <a:buNone/>
            </a:pPr>
            <a:r>
              <a:rPr lang="en-US" sz="1000" b="1" dirty="0">
                <a:solidFill>
                  <a:srgbClr val="4F46E5"/>
                </a:solidFill>
                <a:latin typeface="Segoe UI" pitchFamily="34" charset="0"/>
                <a:ea typeface="Segoe UI" pitchFamily="34" charset="-122"/>
                <a:cs typeface="Segoe UI" pitchFamily="34" charset="-120"/>
              </a:rPr>
              <a:t>PROBLEM SOLVING</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Technical Challenges Encountered &amp; Implemented Solutions</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Demonstrating engineering resilience, analytical debugging, and architectural problem solving</a:t>
            </a:r>
            <a:endParaRPr lang="en-US" sz="1200" dirty="0"/>
          </a:p>
        </p:txBody>
      </p:sp>
      <p:sp>
        <p:nvSpPr>
          <p:cNvPr id="5" name="Shape 3"/>
          <p:cNvSpPr/>
          <p:nvPr/>
        </p:nvSpPr>
        <p:spPr>
          <a:xfrm>
            <a:off x="9875520" y="365760"/>
            <a:ext cx="1828800" cy="320040"/>
          </a:xfrm>
          <a:prstGeom prst="rect">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marL="0" indent="0" algn="ctr">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3383280" cy="4480560"/>
          </a:xfrm>
          <a:prstGeom prst="rect">
            <a:avLst/>
          </a:prstGeom>
          <a:solidFill>
            <a:srgbClr val="FFFFFF"/>
          </a:solidFill>
          <a:ln w="12700">
            <a:solidFill>
              <a:srgbClr val="E2E8F0"/>
            </a:solidFill>
            <a:prstDash val="solid"/>
          </a:ln>
        </p:spPr>
      </p:sp>
      <p:sp>
        <p:nvSpPr>
          <p:cNvPr id="8" name="Text 6"/>
          <p:cNvSpPr/>
          <p:nvPr/>
        </p:nvSpPr>
        <p:spPr>
          <a:xfrm>
            <a:off x="914400" y="1737360"/>
            <a:ext cx="3017520" cy="228600"/>
          </a:xfrm>
          <a:prstGeom prst="rect">
            <a:avLst/>
          </a:prstGeom>
          <a:noFill/>
          <a:ln/>
        </p:spPr>
        <p:txBody>
          <a:bodyPr wrap="square" rtlCol="0" anchor="ctr"/>
          <a:lstStyle/>
          <a:p>
            <a:pPr marL="0" indent="0">
              <a:buNone/>
            </a:pPr>
            <a:r>
              <a:rPr lang="en-US" sz="1000" b="1" dirty="0">
                <a:solidFill>
                  <a:srgbClr val="EF4444"/>
                </a:solidFill>
                <a:latin typeface="Segoe UI" pitchFamily="34" charset="0"/>
                <a:ea typeface="Segoe UI" pitchFamily="34" charset="-122"/>
                <a:cs typeface="Segoe UI" pitchFamily="34" charset="-120"/>
              </a:rPr>
              <a:t>CHALLENGE 01</a:t>
            </a:r>
            <a:endParaRPr lang="en-US" sz="1000" dirty="0"/>
          </a:p>
        </p:txBody>
      </p:sp>
      <p:sp>
        <p:nvSpPr>
          <p:cNvPr id="9" name="Text 7"/>
          <p:cNvSpPr/>
          <p:nvPr/>
        </p:nvSpPr>
        <p:spPr>
          <a:xfrm>
            <a:off x="914400" y="1965960"/>
            <a:ext cx="3017520" cy="411480"/>
          </a:xfrm>
          <a:prstGeom prst="rect">
            <a:avLst/>
          </a:prstGeom>
          <a:noFill/>
          <a:ln/>
        </p:spPr>
        <p:txBody>
          <a:bodyPr wrap="square"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MongoDB Atlas DNS SRV Resolution</a:t>
            </a:r>
            <a:endParaRPr lang="en-US" sz="1300" dirty="0"/>
          </a:p>
        </p:txBody>
      </p:sp>
      <p:sp>
        <p:nvSpPr>
          <p:cNvPr id="10" name="Shape 8"/>
          <p:cNvSpPr/>
          <p:nvPr/>
        </p:nvSpPr>
        <p:spPr>
          <a:xfrm>
            <a:off x="914400" y="2423160"/>
            <a:ext cx="3017520" cy="1005840"/>
          </a:xfrm>
          <a:prstGeom prst="rect">
            <a:avLst/>
          </a:prstGeom>
          <a:solidFill>
            <a:srgbClr val="FEF2F2"/>
          </a:solidFill>
          <a:ln/>
        </p:spPr>
      </p:sp>
      <p:sp>
        <p:nvSpPr>
          <p:cNvPr id="11" name="Text 9"/>
          <p:cNvSpPr/>
          <p:nvPr/>
        </p:nvSpPr>
        <p:spPr>
          <a:xfrm>
            <a:off x="1005840" y="2468880"/>
            <a:ext cx="2834640" cy="914400"/>
          </a:xfrm>
          <a:prstGeom prst="rect">
            <a:avLst/>
          </a:prstGeom>
          <a:noFill/>
          <a:ln/>
        </p:spPr>
        <p:txBody>
          <a:bodyPr wrap="square" rtlCol="0" anchor="ctr"/>
          <a:lstStyle/>
          <a:p>
            <a:pPr marL="0" indent="0">
              <a:lnSpc>
                <a:spcPts val="1400"/>
              </a:lnSpc>
              <a:buNone/>
            </a:pPr>
            <a:r>
              <a:rPr lang="en-US" sz="950" dirty="0">
                <a:solidFill>
                  <a:srgbClr val="991B1B"/>
                </a:solidFill>
                <a:latin typeface="Segoe UI" pitchFamily="34" charset="0"/>
                <a:ea typeface="Segoe UI" pitchFamily="34" charset="-122"/>
                <a:cs typeface="Segoe UI" pitchFamily="34" charset="-120"/>
              </a:rPr>
              <a:t>⚠️ Problem:</a:t>
            </a:r>
            <a:endParaRPr lang="en-US" sz="950" dirty="0"/>
          </a:p>
          <a:p>
            <a:pPr marL="0" indent="0">
              <a:lnSpc>
                <a:spcPts val="1400"/>
              </a:lnSpc>
              <a:buNone/>
            </a:pPr>
            <a:r>
              <a:rPr lang="en-US" sz="950" dirty="0">
                <a:solidFill>
                  <a:srgbClr val="991B1B"/>
                </a:solidFill>
                <a:latin typeface="Segoe UI" pitchFamily="34" charset="0"/>
                <a:ea typeface="Segoe UI" pitchFamily="34" charset="-122"/>
                <a:cs typeface="Segoe UI" pitchFamily="34" charset="-120"/>
              </a:rPr>
              <a:t>Encountered DNS query timeouts (`querySrv ECONNREFUSED`) when resolving MongoDB Atlas cloud cluster URIs on local development environments.</a:t>
            </a:r>
            <a:endParaRPr lang="en-US" sz="950" dirty="0"/>
          </a:p>
        </p:txBody>
      </p:sp>
      <p:sp>
        <p:nvSpPr>
          <p:cNvPr id="12" name="Shape 10"/>
          <p:cNvSpPr/>
          <p:nvPr/>
        </p:nvSpPr>
        <p:spPr>
          <a:xfrm>
            <a:off x="914400" y="3520440"/>
            <a:ext cx="3017520" cy="1280160"/>
          </a:xfrm>
          <a:prstGeom prst="rect">
            <a:avLst/>
          </a:prstGeom>
          <a:solidFill>
            <a:srgbClr val="F0FDF4"/>
          </a:solidFill>
          <a:ln/>
        </p:spPr>
      </p:sp>
      <p:sp>
        <p:nvSpPr>
          <p:cNvPr id="13" name="Text 11"/>
          <p:cNvSpPr/>
          <p:nvPr/>
        </p:nvSpPr>
        <p:spPr>
          <a:xfrm>
            <a:off x="1005840" y="3566160"/>
            <a:ext cx="2834640" cy="1188720"/>
          </a:xfrm>
          <a:prstGeom prst="rect">
            <a:avLst/>
          </a:prstGeom>
          <a:noFill/>
          <a:ln/>
        </p:spPr>
        <p:txBody>
          <a:bodyPr wrap="square" rtlCol="0" anchor="ctr"/>
          <a:lstStyle/>
          <a:p>
            <a:pPr marL="0" indent="0">
              <a:lnSpc>
                <a:spcPts val="1400"/>
              </a:lnSpc>
              <a:buNone/>
            </a:pPr>
            <a:r>
              <a:rPr lang="en-US" sz="950" dirty="0">
                <a:solidFill>
                  <a:srgbClr val="166534"/>
                </a:solidFill>
                <a:latin typeface="Segoe UI" pitchFamily="34" charset="0"/>
                <a:ea typeface="Segoe UI" pitchFamily="34" charset="-122"/>
                <a:cs typeface="Segoe UI" pitchFamily="34" charset="-120"/>
              </a:rPr>
              <a:t>✅ Solution:</a:t>
            </a:r>
            <a:endParaRPr lang="en-US" sz="950" dirty="0"/>
          </a:p>
          <a:p>
            <a:pPr marL="0" indent="0">
              <a:lnSpc>
                <a:spcPts val="1400"/>
              </a:lnSpc>
              <a:buNone/>
            </a:pPr>
            <a:r>
              <a:rPr lang="en-US" sz="950" dirty="0">
                <a:solidFill>
                  <a:srgbClr val="166534"/>
                </a:solidFill>
                <a:latin typeface="Segoe UI" pitchFamily="34" charset="0"/>
                <a:ea typeface="Segoe UI" pitchFamily="34" charset="-122"/>
                <a:cs typeface="Segoe UI" pitchFamily="34" charset="-120"/>
              </a:rPr>
              <a:t>Configured custom upstream DNS servers using Node.js native `dns.setServers(['1.1.1.1', '8.8.8.8'])` before initiating Mongoose database connections.</a:t>
            </a:r>
            <a:endParaRPr lang="en-US" sz="950" dirty="0"/>
          </a:p>
        </p:txBody>
      </p:sp>
      <p:sp>
        <p:nvSpPr>
          <p:cNvPr id="14" name="Text 12"/>
          <p:cNvSpPr/>
          <p:nvPr/>
        </p:nvSpPr>
        <p:spPr>
          <a:xfrm>
            <a:off x="914400" y="4892040"/>
            <a:ext cx="3017520" cy="1005840"/>
          </a:xfrm>
          <a:prstGeom prst="rect">
            <a:avLst/>
          </a:prstGeom>
          <a:noFill/>
          <a:ln/>
        </p:spPr>
        <p:txBody>
          <a:bodyPr wrap="square" rtlCol="0" anchor="ctr"/>
          <a:lstStyle/>
          <a:p>
            <a:pPr marL="0" indent="0">
              <a:lnSpc>
                <a:spcPts val="1400"/>
              </a:lnSpc>
              <a:buNone/>
            </a:pPr>
            <a:r>
              <a:rPr lang="en-US" sz="950" dirty="0">
                <a:solidFill>
                  <a:srgbClr val="475569"/>
                </a:solidFill>
                <a:latin typeface="Segoe UI" pitchFamily="34" charset="0"/>
                <a:ea typeface="Segoe UI" pitchFamily="34" charset="-122"/>
                <a:cs typeface="Segoe UI" pitchFamily="34" charset="-120"/>
              </a:rPr>
              <a:t>💡 Key Takeaway: Gained deeper insight into cloud networking, DNS resolution layers, and resilient database connection patterns.</a:t>
            </a:r>
            <a:endParaRPr lang="en-US" sz="950" dirty="0"/>
          </a:p>
        </p:txBody>
      </p:sp>
      <p:sp>
        <p:nvSpPr>
          <p:cNvPr id="15" name="Shape 13"/>
          <p:cNvSpPr/>
          <p:nvPr/>
        </p:nvSpPr>
        <p:spPr>
          <a:xfrm>
            <a:off x="4389120" y="1554480"/>
            <a:ext cx="3383280" cy="4480560"/>
          </a:xfrm>
          <a:prstGeom prst="rect">
            <a:avLst/>
          </a:prstGeom>
          <a:solidFill>
            <a:srgbClr val="FFFFFF"/>
          </a:solidFill>
          <a:ln w="12700">
            <a:solidFill>
              <a:srgbClr val="E2E8F0"/>
            </a:solidFill>
            <a:prstDash val="solid"/>
          </a:ln>
        </p:spPr>
      </p:sp>
      <p:sp>
        <p:nvSpPr>
          <p:cNvPr id="16" name="Text 14"/>
          <p:cNvSpPr/>
          <p:nvPr/>
        </p:nvSpPr>
        <p:spPr>
          <a:xfrm>
            <a:off x="4572000" y="1737360"/>
            <a:ext cx="3017520" cy="228600"/>
          </a:xfrm>
          <a:prstGeom prst="rect">
            <a:avLst/>
          </a:prstGeom>
          <a:noFill/>
          <a:ln/>
        </p:spPr>
        <p:txBody>
          <a:bodyPr wrap="square" rtlCol="0" anchor="ctr"/>
          <a:lstStyle/>
          <a:p>
            <a:pPr marL="0" indent="0">
              <a:buNone/>
            </a:pPr>
            <a:r>
              <a:rPr lang="en-US" sz="1000" b="1" dirty="0">
                <a:solidFill>
                  <a:srgbClr val="F59E0B"/>
                </a:solidFill>
                <a:latin typeface="Segoe UI" pitchFamily="34" charset="0"/>
                <a:ea typeface="Segoe UI" pitchFamily="34" charset="-122"/>
                <a:cs typeface="Segoe UI" pitchFamily="34" charset="-120"/>
              </a:rPr>
              <a:t>CHALLENGE 02</a:t>
            </a:r>
            <a:endParaRPr lang="en-US" sz="1000" dirty="0"/>
          </a:p>
        </p:txBody>
      </p:sp>
      <p:sp>
        <p:nvSpPr>
          <p:cNvPr id="17" name="Text 15"/>
          <p:cNvSpPr/>
          <p:nvPr/>
        </p:nvSpPr>
        <p:spPr>
          <a:xfrm>
            <a:off x="4572000" y="1965960"/>
            <a:ext cx="3017520" cy="411480"/>
          </a:xfrm>
          <a:prstGeom prst="rect">
            <a:avLst/>
          </a:prstGeom>
          <a:noFill/>
          <a:ln/>
        </p:spPr>
        <p:txBody>
          <a:bodyPr wrap="square"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Multi-Tenant Data Leakage Prevention</a:t>
            </a:r>
            <a:endParaRPr lang="en-US" sz="1300" dirty="0"/>
          </a:p>
        </p:txBody>
      </p:sp>
      <p:sp>
        <p:nvSpPr>
          <p:cNvPr id="18" name="Shape 16"/>
          <p:cNvSpPr/>
          <p:nvPr/>
        </p:nvSpPr>
        <p:spPr>
          <a:xfrm>
            <a:off x="4572000" y="2423160"/>
            <a:ext cx="3017520" cy="1005840"/>
          </a:xfrm>
          <a:prstGeom prst="rect">
            <a:avLst/>
          </a:prstGeom>
          <a:solidFill>
            <a:srgbClr val="FEF2F2"/>
          </a:solidFill>
          <a:ln/>
        </p:spPr>
      </p:sp>
      <p:sp>
        <p:nvSpPr>
          <p:cNvPr id="19" name="Text 17"/>
          <p:cNvSpPr/>
          <p:nvPr/>
        </p:nvSpPr>
        <p:spPr>
          <a:xfrm>
            <a:off x="4663440" y="2468880"/>
            <a:ext cx="2834640" cy="914400"/>
          </a:xfrm>
          <a:prstGeom prst="rect">
            <a:avLst/>
          </a:prstGeom>
          <a:noFill/>
          <a:ln/>
        </p:spPr>
        <p:txBody>
          <a:bodyPr wrap="square" rtlCol="0" anchor="ctr"/>
          <a:lstStyle/>
          <a:p>
            <a:pPr marL="0" indent="0">
              <a:lnSpc>
                <a:spcPts val="1400"/>
              </a:lnSpc>
              <a:buNone/>
            </a:pPr>
            <a:r>
              <a:rPr lang="en-US" sz="950" dirty="0">
                <a:solidFill>
                  <a:srgbClr val="991B1B"/>
                </a:solidFill>
                <a:latin typeface="Segoe UI" pitchFamily="34" charset="0"/>
                <a:ea typeface="Segoe UI" pitchFamily="34" charset="-122"/>
                <a:cs typeface="Segoe UI" pitchFamily="34" charset="-120"/>
              </a:rPr>
              <a:t>⚠️ Problem:</a:t>
            </a:r>
            <a:endParaRPr lang="en-US" sz="950" dirty="0"/>
          </a:p>
          <a:p>
            <a:pPr marL="0" indent="0">
              <a:lnSpc>
                <a:spcPts val="1400"/>
              </a:lnSpc>
              <a:buNone/>
            </a:pPr>
            <a:r>
              <a:rPr lang="en-US" sz="950" dirty="0">
                <a:solidFill>
                  <a:srgbClr val="991B1B"/>
                </a:solidFill>
                <a:latin typeface="Segoe UI" pitchFamily="34" charset="0"/>
                <a:ea typeface="Segoe UI" pitchFamily="34" charset="-122"/>
                <a:cs typeface="Segoe UI" pitchFamily="34" charset="-120"/>
              </a:rPr>
              <a:t>Risk of cross-workspace data exposure if task or project queries did not strictly isolate entities belonging to different organizational workspaces.</a:t>
            </a:r>
            <a:endParaRPr lang="en-US" sz="950" dirty="0"/>
          </a:p>
        </p:txBody>
      </p:sp>
      <p:sp>
        <p:nvSpPr>
          <p:cNvPr id="20" name="Shape 18"/>
          <p:cNvSpPr/>
          <p:nvPr/>
        </p:nvSpPr>
        <p:spPr>
          <a:xfrm>
            <a:off x="4572000" y="3520440"/>
            <a:ext cx="3017520" cy="1280160"/>
          </a:xfrm>
          <a:prstGeom prst="rect">
            <a:avLst/>
          </a:prstGeom>
          <a:solidFill>
            <a:srgbClr val="F0FDF4"/>
          </a:solidFill>
          <a:ln/>
        </p:spPr>
      </p:sp>
      <p:sp>
        <p:nvSpPr>
          <p:cNvPr id="21" name="Text 19"/>
          <p:cNvSpPr/>
          <p:nvPr/>
        </p:nvSpPr>
        <p:spPr>
          <a:xfrm>
            <a:off x="4663440" y="3566160"/>
            <a:ext cx="2834640" cy="1188720"/>
          </a:xfrm>
          <a:prstGeom prst="rect">
            <a:avLst/>
          </a:prstGeom>
          <a:noFill/>
          <a:ln/>
        </p:spPr>
        <p:txBody>
          <a:bodyPr wrap="square" rtlCol="0" anchor="ctr"/>
          <a:lstStyle/>
          <a:p>
            <a:pPr marL="0" indent="0">
              <a:lnSpc>
                <a:spcPts val="1400"/>
              </a:lnSpc>
              <a:buNone/>
            </a:pPr>
            <a:r>
              <a:rPr lang="en-US" sz="950" dirty="0">
                <a:solidFill>
                  <a:srgbClr val="166534"/>
                </a:solidFill>
                <a:latin typeface="Segoe UI" pitchFamily="34" charset="0"/>
                <a:ea typeface="Segoe UI" pitchFamily="34" charset="-122"/>
                <a:cs typeface="Segoe UI" pitchFamily="34" charset="-120"/>
              </a:rPr>
              <a:t>✅ Solution:</a:t>
            </a:r>
            <a:endParaRPr lang="en-US" sz="950" dirty="0"/>
          </a:p>
          <a:p>
            <a:pPr marL="0" indent="0">
              <a:lnSpc>
                <a:spcPts val="1400"/>
              </a:lnSpc>
              <a:buNone/>
            </a:pPr>
            <a:r>
              <a:rPr lang="en-US" sz="950" dirty="0">
                <a:solidFill>
                  <a:srgbClr val="166534"/>
                </a:solidFill>
                <a:latin typeface="Segoe UI" pitchFamily="34" charset="0"/>
                <a:ea typeface="Segoe UI" pitchFamily="34" charset="-122"/>
                <a:cs typeface="Segoe UI" pitchFamily="34" charset="-120"/>
              </a:rPr>
              <a:t>Architected centralized workspace scoping middleware that automatically verifies user membership and injects `workspaceId` filters into all Mongoose queries.</a:t>
            </a:r>
            <a:endParaRPr lang="en-US" sz="950" dirty="0"/>
          </a:p>
        </p:txBody>
      </p:sp>
      <p:sp>
        <p:nvSpPr>
          <p:cNvPr id="22" name="Text 20"/>
          <p:cNvSpPr/>
          <p:nvPr/>
        </p:nvSpPr>
        <p:spPr>
          <a:xfrm>
            <a:off x="4572000" y="4892040"/>
            <a:ext cx="3017520" cy="1005840"/>
          </a:xfrm>
          <a:prstGeom prst="rect">
            <a:avLst/>
          </a:prstGeom>
          <a:noFill/>
          <a:ln/>
        </p:spPr>
        <p:txBody>
          <a:bodyPr wrap="square" rtlCol="0" anchor="ctr"/>
          <a:lstStyle/>
          <a:p>
            <a:pPr marL="0" indent="0">
              <a:lnSpc>
                <a:spcPts val="1400"/>
              </a:lnSpc>
              <a:buNone/>
            </a:pPr>
            <a:r>
              <a:rPr lang="en-US" sz="950" dirty="0">
                <a:solidFill>
                  <a:srgbClr val="475569"/>
                </a:solidFill>
                <a:latin typeface="Segoe UI" pitchFamily="34" charset="0"/>
                <a:ea typeface="Segoe UI" pitchFamily="34" charset="-122"/>
                <a:cs typeface="Segoe UI" pitchFamily="34" charset="-120"/>
              </a:rPr>
              <a:t>💡 Key Takeaway: Mastered enterprise multi-tenancy principles, middleware chaining, and authorization boundaries.</a:t>
            </a:r>
            <a:endParaRPr lang="en-US" sz="950" dirty="0"/>
          </a:p>
        </p:txBody>
      </p:sp>
      <p:sp>
        <p:nvSpPr>
          <p:cNvPr id="23" name="Shape 21"/>
          <p:cNvSpPr/>
          <p:nvPr/>
        </p:nvSpPr>
        <p:spPr>
          <a:xfrm>
            <a:off x="8046720" y="1554480"/>
            <a:ext cx="3383280" cy="4480560"/>
          </a:xfrm>
          <a:prstGeom prst="rect">
            <a:avLst/>
          </a:prstGeom>
          <a:solidFill>
            <a:srgbClr val="FFFFFF"/>
          </a:solidFill>
          <a:ln w="12700">
            <a:solidFill>
              <a:srgbClr val="E2E8F0"/>
            </a:solidFill>
            <a:prstDash val="solid"/>
          </a:ln>
        </p:spPr>
      </p:sp>
      <p:sp>
        <p:nvSpPr>
          <p:cNvPr id="24" name="Text 22"/>
          <p:cNvSpPr/>
          <p:nvPr/>
        </p:nvSpPr>
        <p:spPr>
          <a:xfrm>
            <a:off x="8229600" y="1737360"/>
            <a:ext cx="3017520" cy="228600"/>
          </a:xfrm>
          <a:prstGeom prst="rect">
            <a:avLst/>
          </a:prstGeom>
          <a:noFill/>
          <a:ln/>
        </p:spPr>
        <p:txBody>
          <a:bodyPr wrap="square" rtlCol="0" anchor="ctr"/>
          <a:lstStyle/>
          <a:p>
            <a:pPr marL="0" indent="0">
              <a:buNone/>
            </a:pPr>
            <a:r>
              <a:rPr lang="en-US" sz="1000" b="1" dirty="0">
                <a:solidFill>
                  <a:srgbClr val="6366F1"/>
                </a:solidFill>
                <a:latin typeface="Segoe UI" pitchFamily="34" charset="0"/>
                <a:ea typeface="Segoe UI" pitchFamily="34" charset="-122"/>
                <a:cs typeface="Segoe UI" pitchFamily="34" charset="-120"/>
              </a:rPr>
              <a:t>CHALLENGE 03</a:t>
            </a:r>
            <a:endParaRPr lang="en-US" sz="1000" dirty="0"/>
          </a:p>
        </p:txBody>
      </p:sp>
      <p:sp>
        <p:nvSpPr>
          <p:cNvPr id="25" name="Text 23"/>
          <p:cNvSpPr/>
          <p:nvPr/>
        </p:nvSpPr>
        <p:spPr>
          <a:xfrm>
            <a:off x="8229600" y="1965960"/>
            <a:ext cx="3017520" cy="411480"/>
          </a:xfrm>
          <a:prstGeom prst="rect">
            <a:avLst/>
          </a:prstGeom>
          <a:noFill/>
          <a:ln/>
        </p:spPr>
        <p:txBody>
          <a:bodyPr wrap="square"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Cross-Origin Session &amp; JWT State Sync</a:t>
            </a:r>
            <a:endParaRPr lang="en-US" sz="1300" dirty="0"/>
          </a:p>
        </p:txBody>
      </p:sp>
      <p:sp>
        <p:nvSpPr>
          <p:cNvPr id="26" name="Shape 24"/>
          <p:cNvSpPr/>
          <p:nvPr/>
        </p:nvSpPr>
        <p:spPr>
          <a:xfrm>
            <a:off x="8229600" y="2423160"/>
            <a:ext cx="3017520" cy="1005840"/>
          </a:xfrm>
          <a:prstGeom prst="rect">
            <a:avLst/>
          </a:prstGeom>
          <a:solidFill>
            <a:srgbClr val="FEF2F2"/>
          </a:solidFill>
          <a:ln/>
        </p:spPr>
      </p:sp>
      <p:sp>
        <p:nvSpPr>
          <p:cNvPr id="27" name="Text 25"/>
          <p:cNvSpPr/>
          <p:nvPr/>
        </p:nvSpPr>
        <p:spPr>
          <a:xfrm>
            <a:off x="8321040" y="2468880"/>
            <a:ext cx="2834640" cy="914400"/>
          </a:xfrm>
          <a:prstGeom prst="rect">
            <a:avLst/>
          </a:prstGeom>
          <a:noFill/>
          <a:ln/>
        </p:spPr>
        <p:txBody>
          <a:bodyPr wrap="square" rtlCol="0" anchor="ctr"/>
          <a:lstStyle/>
          <a:p>
            <a:pPr marL="0" indent="0">
              <a:lnSpc>
                <a:spcPts val="1400"/>
              </a:lnSpc>
              <a:buNone/>
            </a:pPr>
            <a:r>
              <a:rPr lang="en-US" sz="950" dirty="0">
                <a:solidFill>
                  <a:srgbClr val="991B1B"/>
                </a:solidFill>
                <a:latin typeface="Segoe UI" pitchFamily="34" charset="0"/>
                <a:ea typeface="Segoe UI" pitchFamily="34" charset="-122"/>
                <a:cs typeface="Segoe UI" pitchFamily="34" charset="-120"/>
              </a:rPr>
              <a:t>⚠️ Problem:</a:t>
            </a:r>
            <a:endParaRPr lang="en-US" sz="950" dirty="0"/>
          </a:p>
          <a:p>
            <a:pPr marL="0" indent="0">
              <a:lnSpc>
                <a:spcPts val="1400"/>
              </a:lnSpc>
              <a:buNone/>
            </a:pPr>
            <a:r>
              <a:rPr lang="en-US" sz="950" dirty="0">
                <a:solidFill>
                  <a:srgbClr val="991B1B"/>
                </a:solidFill>
                <a:latin typeface="Segoe UI" pitchFamily="34" charset="0"/>
                <a:ea typeface="Segoe UI" pitchFamily="34" charset="-122"/>
                <a:cs typeface="Segoe UI" pitchFamily="34" charset="-120"/>
              </a:rPr>
              <a:t>Managing seamless session persistence across differing client ports (Vite 5173 vs Express 5000) with strict cookie-security policies and CORS.</a:t>
            </a:r>
            <a:endParaRPr lang="en-US" sz="950" dirty="0"/>
          </a:p>
        </p:txBody>
      </p:sp>
      <p:sp>
        <p:nvSpPr>
          <p:cNvPr id="28" name="Shape 26"/>
          <p:cNvSpPr/>
          <p:nvPr/>
        </p:nvSpPr>
        <p:spPr>
          <a:xfrm>
            <a:off x="8229600" y="3520440"/>
            <a:ext cx="3017520" cy="1280160"/>
          </a:xfrm>
          <a:prstGeom prst="rect">
            <a:avLst/>
          </a:prstGeom>
          <a:solidFill>
            <a:srgbClr val="F0FDF4"/>
          </a:solidFill>
          <a:ln/>
        </p:spPr>
      </p:sp>
      <p:sp>
        <p:nvSpPr>
          <p:cNvPr id="29" name="Text 27"/>
          <p:cNvSpPr/>
          <p:nvPr/>
        </p:nvSpPr>
        <p:spPr>
          <a:xfrm>
            <a:off x="8321040" y="3566160"/>
            <a:ext cx="2834640" cy="1188720"/>
          </a:xfrm>
          <a:prstGeom prst="rect">
            <a:avLst/>
          </a:prstGeom>
          <a:noFill/>
          <a:ln/>
        </p:spPr>
        <p:txBody>
          <a:bodyPr wrap="square" rtlCol="0" anchor="ctr"/>
          <a:lstStyle/>
          <a:p>
            <a:pPr marL="0" indent="0">
              <a:lnSpc>
                <a:spcPts val="1400"/>
              </a:lnSpc>
              <a:buNone/>
            </a:pPr>
            <a:r>
              <a:rPr lang="en-US" sz="950" dirty="0">
                <a:solidFill>
                  <a:srgbClr val="166534"/>
                </a:solidFill>
                <a:latin typeface="Segoe UI" pitchFamily="34" charset="0"/>
                <a:ea typeface="Segoe UI" pitchFamily="34" charset="-122"/>
                <a:cs typeface="Segoe UI" pitchFamily="34" charset="-120"/>
              </a:rPr>
              <a:t>✅ Solution:</a:t>
            </a:r>
            <a:endParaRPr lang="en-US" sz="950" dirty="0"/>
          </a:p>
          <a:p>
            <a:pPr marL="0" indent="0">
              <a:lnSpc>
                <a:spcPts val="1400"/>
              </a:lnSpc>
              <a:buNone/>
            </a:pPr>
            <a:r>
              <a:rPr lang="en-US" sz="950" dirty="0">
                <a:solidFill>
                  <a:srgbClr val="166534"/>
                </a:solidFill>
                <a:latin typeface="Segoe UI" pitchFamily="34" charset="0"/>
                <a:ea typeface="Segoe UI" pitchFamily="34" charset="-122"/>
                <a:cs typeface="Segoe UI" pitchFamily="34" charset="-120"/>
              </a:rPr>
              <a:t>Configured CORS with dynamic origin resolution, `credentials: true`, combined with fallback JWT Bearer headers and custom React auth interceptors.</a:t>
            </a:r>
            <a:endParaRPr lang="en-US" sz="950" dirty="0"/>
          </a:p>
        </p:txBody>
      </p:sp>
      <p:sp>
        <p:nvSpPr>
          <p:cNvPr id="30" name="Text 28"/>
          <p:cNvSpPr/>
          <p:nvPr/>
        </p:nvSpPr>
        <p:spPr>
          <a:xfrm>
            <a:off x="8229600" y="4892040"/>
            <a:ext cx="3017520" cy="1005840"/>
          </a:xfrm>
          <a:prstGeom prst="rect">
            <a:avLst/>
          </a:prstGeom>
          <a:noFill/>
          <a:ln/>
        </p:spPr>
        <p:txBody>
          <a:bodyPr wrap="square" rtlCol="0" anchor="ctr"/>
          <a:lstStyle/>
          <a:p>
            <a:pPr marL="0" indent="0">
              <a:lnSpc>
                <a:spcPts val="1400"/>
              </a:lnSpc>
              <a:buNone/>
            </a:pPr>
            <a:r>
              <a:rPr lang="en-US" sz="950" dirty="0">
                <a:solidFill>
                  <a:srgbClr val="475569"/>
                </a:solidFill>
                <a:latin typeface="Segoe UI" pitchFamily="34" charset="0"/>
                <a:ea typeface="Segoe UI" pitchFamily="34" charset="-122"/>
                <a:cs typeface="Segoe UI" pitchFamily="34" charset="-120"/>
              </a:rPr>
              <a:t>💡 Key Takeaway: Developed deep expertise in modern web security, cookie flags (`SameSite`, `HttpOnly`), and hybrid auth token architectures.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rtlCol="0" anchor="ctr"/>
          <a:lstStyle/>
          <a:p>
            <a:pPr marL="0" indent="0">
              <a:buNone/>
            </a:pPr>
            <a:r>
              <a:rPr lang="en-US" sz="1000" b="1" dirty="0">
                <a:solidFill>
                  <a:srgbClr val="4F46E5"/>
                </a:solidFill>
                <a:latin typeface="Segoe UI" pitchFamily="34" charset="0"/>
                <a:ea typeface="Segoe UI" pitchFamily="34" charset="-122"/>
                <a:cs typeface="Segoe UI" pitchFamily="34" charset="-120"/>
              </a:rPr>
              <a:t>IMPACT &amp; GROWTH</a:t>
            </a:r>
            <a:endParaRPr lang="en-US" sz="1000" dirty="0"/>
          </a:p>
        </p:txBody>
      </p:sp>
      <p:sp>
        <p:nvSpPr>
          <p:cNvPr id="3" name="Text 1"/>
          <p:cNvSpPr/>
          <p:nvPr/>
        </p:nvSpPr>
        <p:spPr>
          <a:xfrm>
            <a:off x="731520" y="594360"/>
            <a:ext cx="10515600" cy="50292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Results, Deliverables &amp; Learning Outcomes</a:t>
            </a:r>
            <a:endParaRPr lang="en-US" sz="2200" dirty="0"/>
          </a:p>
        </p:txBody>
      </p:sp>
      <p:sp>
        <p:nvSpPr>
          <p:cNvPr id="4" name="Text 2"/>
          <p:cNvSpPr/>
          <p:nvPr/>
        </p:nvSpPr>
        <p:spPr>
          <a:xfrm>
            <a:off x="731520" y="1097280"/>
            <a:ext cx="1051560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Measurable project achievements and comprehensive skill acquisition</a:t>
            </a:r>
            <a:endParaRPr lang="en-US" sz="1200" dirty="0"/>
          </a:p>
        </p:txBody>
      </p:sp>
      <p:sp>
        <p:nvSpPr>
          <p:cNvPr id="5" name="Shape 3"/>
          <p:cNvSpPr/>
          <p:nvPr/>
        </p:nvSpPr>
        <p:spPr>
          <a:xfrm>
            <a:off x="9875520" y="365760"/>
            <a:ext cx="1828800" cy="320040"/>
          </a:xfrm>
          <a:prstGeom prst="rect">
            <a:avLst/>
          </a:prstGeom>
          <a:solidFill>
            <a:srgbClr val="EEF2F6"/>
          </a:solidFill>
          <a:ln w="12700">
            <a:solidFill>
              <a:srgbClr val="CBD5E1"/>
            </a:solidFill>
            <a:prstDash val="solid"/>
          </a:ln>
        </p:spPr>
      </p:sp>
      <p:sp>
        <p:nvSpPr>
          <p:cNvPr id="6" name="Text 4"/>
          <p:cNvSpPr/>
          <p:nvPr/>
        </p:nvSpPr>
        <p:spPr>
          <a:xfrm>
            <a:off x="9875520" y="365760"/>
            <a:ext cx="1828800" cy="320040"/>
          </a:xfrm>
          <a:prstGeom prst="rect">
            <a:avLst/>
          </a:prstGeom>
          <a:noFill/>
          <a:ln/>
        </p:spPr>
        <p:txBody>
          <a:bodyPr wrap="square" rtlCol="0" anchor="ctr"/>
          <a:lstStyle/>
          <a:p>
            <a:pPr marL="0" indent="0" algn="ctr">
              <a:buNone/>
            </a:pPr>
            <a:r>
              <a:rPr lang="en-US" sz="900" b="1" dirty="0">
                <a:solidFill>
                  <a:srgbClr val="1E293B"/>
                </a:solidFill>
                <a:latin typeface="Segoe UI" pitchFamily="34" charset="0"/>
                <a:ea typeface="Segoe UI" pitchFamily="34" charset="-122"/>
                <a:cs typeface="Segoe UI" pitchFamily="34" charset="-120"/>
              </a:rPr>
              <a:t>AMSYS INFOCOM</a:t>
            </a:r>
            <a:endParaRPr lang="en-US" sz="900" dirty="0"/>
          </a:p>
        </p:txBody>
      </p:sp>
      <p:sp>
        <p:nvSpPr>
          <p:cNvPr id="7" name="Shape 5"/>
          <p:cNvSpPr/>
          <p:nvPr/>
        </p:nvSpPr>
        <p:spPr>
          <a:xfrm>
            <a:off x="731520" y="1554480"/>
            <a:ext cx="5212080" cy="4480560"/>
          </a:xfrm>
          <a:prstGeom prst="rect">
            <a:avLst/>
          </a:prstGeom>
          <a:solidFill>
            <a:srgbClr val="FFFFFF"/>
          </a:solidFill>
          <a:ln w="12700">
            <a:solidFill>
              <a:srgbClr val="E2E8F0"/>
            </a:solidFill>
            <a:prstDash val="solid"/>
          </a:ln>
        </p:spPr>
      </p:sp>
      <p:sp>
        <p:nvSpPr>
          <p:cNvPr id="8" name="Text 6"/>
          <p:cNvSpPr/>
          <p:nvPr/>
        </p:nvSpPr>
        <p:spPr>
          <a:xfrm>
            <a:off x="1005840" y="1783080"/>
            <a:ext cx="4663440" cy="320040"/>
          </a:xfrm>
          <a:prstGeom prst="rect">
            <a:avLst/>
          </a:prstGeom>
          <a:noFill/>
          <a:ln/>
        </p:spPr>
        <p:txBody>
          <a:bodyPr wrap="square" rtlCol="0" anchor="ctr"/>
          <a:lstStyle/>
          <a:p>
            <a:pPr marL="0" indent="0">
              <a:buNone/>
            </a:pPr>
            <a:r>
              <a:rPr lang="en-US" sz="1400" b="1" dirty="0">
                <a:solidFill>
                  <a:srgbClr val="4F46E5"/>
                </a:solidFill>
                <a:latin typeface="Segoe UI" pitchFamily="34" charset="0"/>
                <a:ea typeface="Segoe UI" pitchFamily="34" charset="-122"/>
                <a:cs typeface="Segoe UI" pitchFamily="34" charset="-120"/>
              </a:rPr>
              <a:t>🏆 Project Achievements &amp; Deliverables</a:t>
            </a:r>
            <a:endParaRPr lang="en-US" sz="1400" dirty="0"/>
          </a:p>
        </p:txBody>
      </p:sp>
      <p:sp>
        <p:nvSpPr>
          <p:cNvPr id="9" name="Text 7"/>
          <p:cNvSpPr/>
          <p:nvPr/>
        </p:nvSpPr>
        <p:spPr>
          <a:xfrm>
            <a:off x="1005840" y="2194560"/>
            <a:ext cx="4663440" cy="594360"/>
          </a:xfrm>
          <a:prstGeom prst="rect">
            <a:avLst/>
          </a:prstGeom>
          <a:noFill/>
          <a:ln/>
        </p:spPr>
        <p:txBody>
          <a:bodyPr wrap="square" rtlCol="0" anchor="ctr"/>
          <a:lstStyle/>
          <a:p>
            <a:pPr marL="0" indent="0">
              <a:lnSpc>
                <a:spcPts val="1500"/>
              </a:lnSpc>
              <a:buNone/>
            </a:pPr>
            <a:r>
              <a:rPr lang="en-US" sz="1050" b="1" dirty="0">
                <a:solidFill>
                  <a:srgbClr val="0F172A"/>
                </a:solidFill>
                <a:latin typeface="Segoe UI" pitchFamily="34" charset="0"/>
                <a:ea typeface="Segoe UI" pitchFamily="34" charset="-122"/>
                <a:cs typeface="Segoe UI" pitchFamily="34" charset="-120"/>
              </a:rPr>
              <a:t>✔ Fully Functional Platform: </a:t>
            </a:r>
            <a:r>
              <a:rPr lang="en-US" sz="1050" dirty="0">
                <a:solidFill>
                  <a:srgbClr val="475569"/>
                </a:solidFill>
                <a:latin typeface="Segoe UI" pitchFamily="34" charset="0"/>
                <a:ea typeface="Segoe UI" pitchFamily="34" charset="-122"/>
                <a:cs typeface="Segoe UI" pitchFamily="34" charset="-120"/>
              </a:rPr>
              <a:t>Delivered an end-to-end B2B operations hub unifying workspaces, projects, epics, and tasks.</a:t>
            </a:r>
            <a:endParaRPr lang="en-US" sz="1050" dirty="0"/>
          </a:p>
        </p:txBody>
      </p:sp>
      <p:sp>
        <p:nvSpPr>
          <p:cNvPr id="10" name="Text 8"/>
          <p:cNvSpPr/>
          <p:nvPr/>
        </p:nvSpPr>
        <p:spPr>
          <a:xfrm>
            <a:off x="1005840" y="2880360"/>
            <a:ext cx="4663440" cy="594360"/>
          </a:xfrm>
          <a:prstGeom prst="rect">
            <a:avLst/>
          </a:prstGeom>
          <a:noFill/>
          <a:ln/>
        </p:spPr>
        <p:txBody>
          <a:bodyPr wrap="square" rtlCol="0" anchor="ctr"/>
          <a:lstStyle/>
          <a:p>
            <a:pPr marL="0" indent="0">
              <a:lnSpc>
                <a:spcPts val="1500"/>
              </a:lnSpc>
              <a:buNone/>
            </a:pPr>
            <a:r>
              <a:rPr lang="en-US" sz="1050" b="1" dirty="0">
                <a:solidFill>
                  <a:srgbClr val="0F172A"/>
                </a:solidFill>
                <a:latin typeface="Segoe UI" pitchFamily="34" charset="0"/>
                <a:ea typeface="Segoe UI" pitchFamily="34" charset="-122"/>
                <a:cs typeface="Segoe UI" pitchFamily="34" charset="-120"/>
              </a:rPr>
              <a:t>✔ 100% Verified API Endpoints: </a:t>
            </a:r>
            <a:r>
              <a:rPr lang="en-US" sz="1050" dirty="0">
                <a:solidFill>
                  <a:srgbClr val="475569"/>
                </a:solidFill>
                <a:latin typeface="Segoe UI" pitchFamily="34" charset="0"/>
                <a:ea typeface="Segoe UI" pitchFamily="34" charset="-122"/>
                <a:cs typeface="Segoe UI" pitchFamily="34" charset="-120"/>
              </a:rPr>
              <a:t>All 11+ REST endpoints tested with automated seed verification scripts.</a:t>
            </a:r>
            <a:endParaRPr lang="en-US" sz="1050" dirty="0"/>
          </a:p>
        </p:txBody>
      </p:sp>
      <p:sp>
        <p:nvSpPr>
          <p:cNvPr id="11" name="Text 9"/>
          <p:cNvSpPr/>
          <p:nvPr/>
        </p:nvSpPr>
        <p:spPr>
          <a:xfrm>
            <a:off x="1005840" y="3566160"/>
            <a:ext cx="4663440" cy="594360"/>
          </a:xfrm>
          <a:prstGeom prst="rect">
            <a:avLst/>
          </a:prstGeom>
          <a:noFill/>
          <a:ln/>
        </p:spPr>
        <p:txBody>
          <a:bodyPr wrap="square" rtlCol="0" anchor="ctr"/>
          <a:lstStyle/>
          <a:p>
            <a:pPr marL="0" indent="0">
              <a:lnSpc>
                <a:spcPts val="1500"/>
              </a:lnSpc>
              <a:buNone/>
            </a:pPr>
            <a:r>
              <a:rPr lang="en-US" sz="1050" b="1" dirty="0">
                <a:solidFill>
                  <a:srgbClr val="0F172A"/>
                </a:solidFill>
                <a:latin typeface="Segoe UI" pitchFamily="34" charset="0"/>
                <a:ea typeface="Segoe UI" pitchFamily="34" charset="-122"/>
                <a:cs typeface="Segoe UI" pitchFamily="34" charset="-120"/>
              </a:rPr>
              <a:t>✔ Robust Security Compliance: </a:t>
            </a:r>
            <a:r>
              <a:rPr lang="en-US" sz="1050" dirty="0">
                <a:solidFill>
                  <a:srgbClr val="475569"/>
                </a:solidFill>
                <a:latin typeface="Segoe UI" pitchFamily="34" charset="0"/>
                <a:ea typeface="Segoe UI" pitchFamily="34" charset="-122"/>
                <a:cs typeface="Segoe UI" pitchFamily="34" charset="-120"/>
              </a:rPr>
              <a:t>Implemented multi-tenant isolation, 4-tier RBAC, and protected route guards.</a:t>
            </a:r>
            <a:endParaRPr lang="en-US" sz="1050" dirty="0"/>
          </a:p>
        </p:txBody>
      </p:sp>
      <p:sp>
        <p:nvSpPr>
          <p:cNvPr id="12" name="Text 10"/>
          <p:cNvSpPr/>
          <p:nvPr/>
        </p:nvSpPr>
        <p:spPr>
          <a:xfrm>
            <a:off x="1005840" y="4251960"/>
            <a:ext cx="4663440" cy="594360"/>
          </a:xfrm>
          <a:prstGeom prst="rect">
            <a:avLst/>
          </a:prstGeom>
          <a:noFill/>
          <a:ln/>
        </p:spPr>
        <p:txBody>
          <a:bodyPr wrap="square" rtlCol="0" anchor="ctr"/>
          <a:lstStyle/>
          <a:p>
            <a:pPr marL="0" indent="0">
              <a:lnSpc>
                <a:spcPts val="1500"/>
              </a:lnSpc>
              <a:buNone/>
            </a:pPr>
            <a:r>
              <a:rPr lang="en-US" sz="1050" b="1" dirty="0">
                <a:solidFill>
                  <a:srgbClr val="0F172A"/>
                </a:solidFill>
                <a:latin typeface="Segoe UI" pitchFamily="34" charset="0"/>
                <a:ea typeface="Segoe UI" pitchFamily="34" charset="-122"/>
                <a:cs typeface="Segoe UI" pitchFamily="34" charset="-120"/>
              </a:rPr>
              <a:t>✔ High Performance: </a:t>
            </a:r>
            <a:r>
              <a:rPr lang="en-US" sz="1050" dirty="0">
                <a:solidFill>
                  <a:srgbClr val="475569"/>
                </a:solidFill>
                <a:latin typeface="Segoe UI" pitchFamily="34" charset="0"/>
                <a:ea typeface="Segoe UI" pitchFamily="34" charset="-122"/>
                <a:cs typeface="Segoe UI" pitchFamily="34" charset="-120"/>
              </a:rPr>
              <a:t>Achieved sub-100ms API response times on indexed Mongoose queries.</a:t>
            </a:r>
            <a:endParaRPr lang="en-US" sz="1050" dirty="0"/>
          </a:p>
        </p:txBody>
      </p:sp>
      <p:sp>
        <p:nvSpPr>
          <p:cNvPr id="13" name="Text 11"/>
          <p:cNvSpPr/>
          <p:nvPr/>
        </p:nvSpPr>
        <p:spPr>
          <a:xfrm>
            <a:off x="1005840" y="4937760"/>
            <a:ext cx="4663440" cy="594360"/>
          </a:xfrm>
          <a:prstGeom prst="rect">
            <a:avLst/>
          </a:prstGeom>
          <a:noFill/>
          <a:ln/>
        </p:spPr>
        <p:txBody>
          <a:bodyPr wrap="square" rtlCol="0" anchor="ctr"/>
          <a:lstStyle/>
          <a:p>
            <a:pPr marL="0" indent="0">
              <a:lnSpc>
                <a:spcPts val="1500"/>
              </a:lnSpc>
              <a:buNone/>
            </a:pPr>
            <a:r>
              <a:rPr lang="en-US" sz="1050" b="1" dirty="0">
                <a:solidFill>
                  <a:srgbClr val="0F172A"/>
                </a:solidFill>
                <a:latin typeface="Segoe UI" pitchFamily="34" charset="0"/>
                <a:ea typeface="Segoe UI" pitchFamily="34" charset="-122"/>
                <a:cs typeface="Segoe UI" pitchFamily="34" charset="-120"/>
              </a:rPr>
              <a:t>✔ Exceptional Evaluation: </a:t>
            </a:r>
            <a:r>
              <a:rPr lang="en-US" sz="1050" dirty="0">
                <a:solidFill>
                  <a:srgbClr val="475569"/>
                </a:solidFill>
                <a:latin typeface="Segoe UI" pitchFamily="34" charset="0"/>
                <a:ea typeface="Segoe UI" pitchFamily="34" charset="-122"/>
                <a:cs typeface="Segoe UI" pitchFamily="34" charset="-120"/>
              </a:rPr>
              <a:t>Awarded Certificate of Excellence from AMSYS Infocom for maximal efficiency and technical competence.</a:t>
            </a:r>
            <a:endParaRPr lang="en-US" sz="1050" dirty="0"/>
          </a:p>
        </p:txBody>
      </p:sp>
      <p:sp>
        <p:nvSpPr>
          <p:cNvPr id="14" name="Shape 12"/>
          <p:cNvSpPr/>
          <p:nvPr/>
        </p:nvSpPr>
        <p:spPr>
          <a:xfrm>
            <a:off x="6217920" y="1554480"/>
            <a:ext cx="5212080" cy="4480560"/>
          </a:xfrm>
          <a:prstGeom prst="rect">
            <a:avLst/>
          </a:prstGeom>
          <a:solidFill>
            <a:srgbClr val="FFFFFF"/>
          </a:solidFill>
          <a:ln w="12700">
            <a:solidFill>
              <a:srgbClr val="E2E8F0"/>
            </a:solidFill>
            <a:prstDash val="solid"/>
          </a:ln>
        </p:spPr>
      </p:sp>
      <p:sp>
        <p:nvSpPr>
          <p:cNvPr id="15" name="Text 13"/>
          <p:cNvSpPr/>
          <p:nvPr/>
        </p:nvSpPr>
        <p:spPr>
          <a:xfrm>
            <a:off x="6492240" y="1783080"/>
            <a:ext cx="4663440" cy="320040"/>
          </a:xfrm>
          <a:prstGeom prst="rect">
            <a:avLst/>
          </a:prstGeom>
          <a:noFill/>
          <a:ln/>
        </p:spPr>
        <p:txBody>
          <a:bodyPr wrap="square" rtlCol="0" anchor="ctr"/>
          <a:lstStyle/>
          <a:p>
            <a:pPr marL="0" indent="0">
              <a:buNone/>
            </a:pPr>
            <a:r>
              <a:rPr lang="en-US" sz="1400" b="1" dirty="0">
                <a:solidFill>
                  <a:srgbClr val="059669"/>
                </a:solidFill>
                <a:latin typeface="Segoe UI" pitchFamily="34" charset="0"/>
                <a:ea typeface="Segoe UI" pitchFamily="34" charset="-122"/>
                <a:cs typeface="Segoe UI" pitchFamily="34" charset="-120"/>
              </a:rPr>
              <a:t>📚 Professional &amp; Technical Growth</a:t>
            </a:r>
            <a:endParaRPr lang="en-US" sz="1400" dirty="0"/>
          </a:p>
        </p:txBody>
      </p:sp>
      <p:sp>
        <p:nvSpPr>
          <p:cNvPr id="16" name="Text 14"/>
          <p:cNvSpPr/>
          <p:nvPr/>
        </p:nvSpPr>
        <p:spPr>
          <a:xfrm>
            <a:off x="6492240" y="2194560"/>
            <a:ext cx="4663440" cy="594360"/>
          </a:xfrm>
          <a:prstGeom prst="rect">
            <a:avLst/>
          </a:prstGeom>
          <a:noFill/>
          <a:ln/>
        </p:spPr>
        <p:txBody>
          <a:bodyPr wrap="square" rtlCol="0" anchor="ctr"/>
          <a:lstStyle/>
          <a:p>
            <a:pPr marL="0" indent="0">
              <a:lnSpc>
                <a:spcPts val="1500"/>
              </a:lnSpc>
              <a:buNone/>
            </a:pPr>
            <a:r>
              <a:rPr lang="en-US" sz="1050" b="1" dirty="0">
                <a:solidFill>
                  <a:srgbClr val="0F172A"/>
                </a:solidFill>
                <a:latin typeface="Segoe UI" pitchFamily="34" charset="0"/>
                <a:ea typeface="Segoe UI" pitchFamily="34" charset="-122"/>
                <a:cs typeface="Segoe UI" pitchFamily="34" charset="-120"/>
              </a:rPr>
              <a:t>⭐ Full-Stack MERN Mastery: </a:t>
            </a:r>
            <a:r>
              <a:rPr lang="en-US" sz="1050" dirty="0">
                <a:solidFill>
                  <a:srgbClr val="475569"/>
                </a:solidFill>
                <a:latin typeface="Segoe UI" pitchFamily="34" charset="0"/>
                <a:ea typeface="Segoe UI" pitchFamily="34" charset="-122"/>
                <a:cs typeface="Segoe UI" pitchFamily="34" charset="-120"/>
              </a:rPr>
              <a:t>Gained hands-on confidence architecting scalable Node/Express backends and React frontends.</a:t>
            </a:r>
            <a:endParaRPr lang="en-US" sz="1050" dirty="0"/>
          </a:p>
        </p:txBody>
      </p:sp>
      <p:sp>
        <p:nvSpPr>
          <p:cNvPr id="17" name="Text 15"/>
          <p:cNvSpPr/>
          <p:nvPr/>
        </p:nvSpPr>
        <p:spPr>
          <a:xfrm>
            <a:off x="6492240" y="2880360"/>
            <a:ext cx="4663440" cy="594360"/>
          </a:xfrm>
          <a:prstGeom prst="rect">
            <a:avLst/>
          </a:prstGeom>
          <a:noFill/>
          <a:ln/>
        </p:spPr>
        <p:txBody>
          <a:bodyPr wrap="square" rtlCol="0" anchor="ctr"/>
          <a:lstStyle/>
          <a:p>
            <a:pPr marL="0" indent="0">
              <a:lnSpc>
                <a:spcPts val="1500"/>
              </a:lnSpc>
              <a:buNone/>
            </a:pPr>
            <a:r>
              <a:rPr lang="en-US" sz="1050" b="1" dirty="0">
                <a:solidFill>
                  <a:srgbClr val="0F172A"/>
                </a:solidFill>
                <a:latin typeface="Segoe UI" pitchFamily="34" charset="0"/>
                <a:ea typeface="Segoe UI" pitchFamily="34" charset="-122"/>
                <a:cs typeface="Segoe UI" pitchFamily="34" charset="-120"/>
              </a:rPr>
              <a:t>⭐ Database Design &amp; Indexing: </a:t>
            </a:r>
            <a:r>
              <a:rPr lang="en-US" sz="1050" dirty="0">
                <a:solidFill>
                  <a:srgbClr val="475569"/>
                </a:solidFill>
                <a:latin typeface="Segoe UI" pitchFamily="34" charset="0"/>
                <a:ea typeface="Segoe UI" pitchFamily="34" charset="-122"/>
                <a:cs typeface="Segoe UI" pitchFamily="34" charset="-120"/>
              </a:rPr>
              <a:t>Learned schema normalization, foreign key populations, and performance tuning in MongoDB.</a:t>
            </a:r>
            <a:endParaRPr lang="en-US" sz="1050" dirty="0"/>
          </a:p>
        </p:txBody>
      </p:sp>
      <p:sp>
        <p:nvSpPr>
          <p:cNvPr id="18" name="Text 16"/>
          <p:cNvSpPr/>
          <p:nvPr/>
        </p:nvSpPr>
        <p:spPr>
          <a:xfrm>
            <a:off x="6492240" y="3566160"/>
            <a:ext cx="4663440" cy="594360"/>
          </a:xfrm>
          <a:prstGeom prst="rect">
            <a:avLst/>
          </a:prstGeom>
          <a:noFill/>
          <a:ln/>
        </p:spPr>
        <p:txBody>
          <a:bodyPr wrap="square" rtlCol="0" anchor="ctr"/>
          <a:lstStyle/>
          <a:p>
            <a:pPr marL="0" indent="0">
              <a:lnSpc>
                <a:spcPts val="1500"/>
              </a:lnSpc>
              <a:buNone/>
            </a:pPr>
            <a:r>
              <a:rPr lang="en-US" sz="1050" b="1" dirty="0">
                <a:solidFill>
                  <a:srgbClr val="0F172A"/>
                </a:solidFill>
                <a:latin typeface="Segoe UI" pitchFamily="34" charset="0"/>
                <a:ea typeface="Segoe UI" pitchFamily="34" charset="-122"/>
                <a:cs typeface="Segoe UI" pitchFamily="34" charset="-120"/>
              </a:rPr>
              <a:t>⭐ Enterprise Security: </a:t>
            </a:r>
            <a:r>
              <a:rPr lang="en-US" sz="1050" dirty="0">
                <a:solidFill>
                  <a:srgbClr val="475569"/>
                </a:solidFill>
                <a:latin typeface="Segoe UI" pitchFamily="34" charset="0"/>
                <a:ea typeface="Segoe UI" pitchFamily="34" charset="-122"/>
                <a:cs typeface="Segoe UI" pitchFamily="34" charset="-120"/>
              </a:rPr>
              <a:t>Mastered JWT stateless tokens, OAuth 2.0 flows, cookie security, and RBAC authorization.</a:t>
            </a:r>
            <a:endParaRPr lang="en-US" sz="1050" dirty="0"/>
          </a:p>
        </p:txBody>
      </p:sp>
      <p:sp>
        <p:nvSpPr>
          <p:cNvPr id="19" name="Text 17"/>
          <p:cNvSpPr/>
          <p:nvPr/>
        </p:nvSpPr>
        <p:spPr>
          <a:xfrm>
            <a:off x="6492240" y="4251960"/>
            <a:ext cx="4663440" cy="594360"/>
          </a:xfrm>
          <a:prstGeom prst="rect">
            <a:avLst/>
          </a:prstGeom>
          <a:noFill/>
          <a:ln/>
        </p:spPr>
        <p:txBody>
          <a:bodyPr wrap="square" rtlCol="0" anchor="ctr"/>
          <a:lstStyle/>
          <a:p>
            <a:pPr marL="0" indent="0">
              <a:lnSpc>
                <a:spcPts val="1500"/>
              </a:lnSpc>
              <a:buNone/>
            </a:pPr>
            <a:r>
              <a:rPr lang="en-US" sz="1050" b="1" dirty="0">
                <a:solidFill>
                  <a:srgbClr val="0F172A"/>
                </a:solidFill>
                <a:latin typeface="Segoe UI" pitchFamily="34" charset="0"/>
                <a:ea typeface="Segoe UI" pitchFamily="34" charset="-122"/>
                <a:cs typeface="Segoe UI" pitchFamily="34" charset="-120"/>
              </a:rPr>
              <a:t>⭐ Agile &amp; DevOps Workflows: </a:t>
            </a:r>
            <a:r>
              <a:rPr lang="en-US" sz="1050" dirty="0">
                <a:solidFill>
                  <a:srgbClr val="475569"/>
                </a:solidFill>
                <a:latin typeface="Segoe UI" pitchFamily="34" charset="0"/>
                <a:ea typeface="Segoe UI" pitchFamily="34" charset="-122"/>
                <a:cs typeface="Segoe UI" pitchFamily="34" charset="-120"/>
              </a:rPr>
              <a:t>Experienced structured sprint cycles, Git branching strategies, and automated testing.</a:t>
            </a:r>
            <a:endParaRPr lang="en-US" sz="1050" dirty="0"/>
          </a:p>
        </p:txBody>
      </p:sp>
      <p:sp>
        <p:nvSpPr>
          <p:cNvPr id="20" name="Text 18"/>
          <p:cNvSpPr/>
          <p:nvPr/>
        </p:nvSpPr>
        <p:spPr>
          <a:xfrm>
            <a:off x="6492240" y="4937760"/>
            <a:ext cx="4663440" cy="594360"/>
          </a:xfrm>
          <a:prstGeom prst="rect">
            <a:avLst/>
          </a:prstGeom>
          <a:noFill/>
          <a:ln/>
        </p:spPr>
        <p:txBody>
          <a:bodyPr wrap="square" rtlCol="0" anchor="ctr"/>
          <a:lstStyle/>
          <a:p>
            <a:pPr marL="0" indent="0">
              <a:lnSpc>
                <a:spcPts val="1500"/>
              </a:lnSpc>
              <a:buNone/>
            </a:pPr>
            <a:r>
              <a:rPr lang="en-US" sz="1050" b="1" dirty="0">
                <a:solidFill>
                  <a:srgbClr val="0F172A"/>
                </a:solidFill>
                <a:latin typeface="Segoe UI" pitchFamily="34" charset="0"/>
                <a:ea typeface="Segoe UI" pitchFamily="34" charset="-122"/>
                <a:cs typeface="Segoe UI" pitchFamily="34" charset="-120"/>
              </a:rPr>
              <a:t>⭐ Professional Demeanor: </a:t>
            </a:r>
            <a:r>
              <a:rPr lang="en-US" sz="1050" dirty="0">
                <a:solidFill>
                  <a:srgbClr val="475569"/>
                </a:solidFill>
                <a:latin typeface="Segoe UI" pitchFamily="34" charset="0"/>
                <a:ea typeface="Segoe UI" pitchFamily="34" charset="-122"/>
                <a:cs typeface="Segoe UI" pitchFamily="34" charset="-120"/>
              </a:rPr>
              <a:t>Enhanced technical communication, sprint demo delivery, and collaborative problem-solving.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4F46E5"/>
          </a:solidFill>
          <a:ln/>
        </p:spPr>
      </p:sp>
      <p:sp>
        <p:nvSpPr>
          <p:cNvPr id="3" name="Text 1"/>
          <p:cNvSpPr/>
          <p:nvPr/>
        </p:nvSpPr>
        <p:spPr>
          <a:xfrm>
            <a:off x="914400" y="548640"/>
            <a:ext cx="7315200" cy="274320"/>
          </a:xfrm>
          <a:prstGeom prst="rect">
            <a:avLst/>
          </a:prstGeom>
          <a:noFill/>
          <a:ln/>
        </p:spPr>
        <p:txBody>
          <a:bodyPr wrap="square" rtlCol="0" anchor="ctr"/>
          <a:lstStyle/>
          <a:p>
            <a:pPr marL="0" indent="0">
              <a:buNone/>
            </a:pPr>
            <a:r>
              <a:rPr lang="en-US" sz="1100" b="1" dirty="0">
                <a:solidFill>
                  <a:srgbClr val="38BDF8"/>
                </a:solidFill>
                <a:latin typeface="Segoe UI" pitchFamily="34" charset="0"/>
                <a:ea typeface="Segoe UI" pitchFamily="34" charset="-122"/>
                <a:cs typeface="Segoe UI" pitchFamily="34" charset="-120"/>
              </a:rPr>
              <a:t>CONCLUSION &amp; ROADMAP</a:t>
            </a:r>
            <a:endParaRPr lang="en-US" sz="1100" dirty="0"/>
          </a:p>
        </p:txBody>
      </p:sp>
      <p:sp>
        <p:nvSpPr>
          <p:cNvPr id="4" name="Text 2"/>
          <p:cNvSpPr/>
          <p:nvPr/>
        </p:nvSpPr>
        <p:spPr>
          <a:xfrm>
            <a:off x="914400" y="822960"/>
            <a:ext cx="10058400" cy="457200"/>
          </a:xfrm>
          <a:prstGeom prst="rect">
            <a:avLst/>
          </a:prstGeom>
          <a:noFill/>
          <a:ln/>
        </p:spPr>
        <p:txBody>
          <a:bodyPr wrap="square"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Summary &amp; Future Roadmap</a:t>
            </a:r>
            <a:endParaRPr lang="en-US" sz="2400" dirty="0"/>
          </a:p>
        </p:txBody>
      </p:sp>
      <p:sp>
        <p:nvSpPr>
          <p:cNvPr id="5" name="Shape 3"/>
          <p:cNvSpPr/>
          <p:nvPr/>
        </p:nvSpPr>
        <p:spPr>
          <a:xfrm>
            <a:off x="914400" y="1463040"/>
            <a:ext cx="3383280" cy="1920240"/>
          </a:xfrm>
          <a:prstGeom prst="rect">
            <a:avLst/>
          </a:prstGeom>
          <a:solidFill>
            <a:srgbClr val="1E293B"/>
          </a:solidFill>
          <a:ln w="12700">
            <a:solidFill>
              <a:srgbClr val="334155"/>
            </a:solidFill>
            <a:prstDash val="solid"/>
          </a:ln>
        </p:spPr>
      </p:sp>
      <p:sp>
        <p:nvSpPr>
          <p:cNvPr id="6" name="Text 4"/>
          <p:cNvSpPr/>
          <p:nvPr/>
        </p:nvSpPr>
        <p:spPr>
          <a:xfrm>
            <a:off x="1097280" y="1645920"/>
            <a:ext cx="3017520" cy="320040"/>
          </a:xfrm>
          <a:prstGeom prst="rect">
            <a:avLst/>
          </a:prstGeom>
          <a:noFill/>
          <a:ln/>
        </p:spPr>
        <p:txBody>
          <a:bodyPr wrap="square" rtlCol="0" anchor="ctr"/>
          <a:lstStyle/>
          <a:p>
            <a:pPr marL="0" indent="0">
              <a:buNone/>
            </a:pPr>
            <a:r>
              <a:rPr lang="en-US" sz="1300" b="1" dirty="0">
                <a:solidFill>
                  <a:srgbClr val="818CF8"/>
                </a:solidFill>
                <a:latin typeface="Segoe UI" pitchFamily="34" charset="0"/>
                <a:ea typeface="Segoe UI" pitchFamily="34" charset="-122"/>
                <a:cs typeface="Segoe UI" pitchFamily="34" charset="-120"/>
              </a:rPr>
              <a:t>🚀 Real-Time WebSockets</a:t>
            </a:r>
            <a:endParaRPr lang="en-US" sz="1300" dirty="0"/>
          </a:p>
        </p:txBody>
      </p:sp>
      <p:sp>
        <p:nvSpPr>
          <p:cNvPr id="7" name="Text 5"/>
          <p:cNvSpPr/>
          <p:nvPr/>
        </p:nvSpPr>
        <p:spPr>
          <a:xfrm>
            <a:off x="1097280" y="2011680"/>
            <a:ext cx="3017520" cy="1188720"/>
          </a:xfrm>
          <a:prstGeom prst="rect">
            <a:avLst/>
          </a:prstGeom>
          <a:noFill/>
          <a:ln/>
        </p:spPr>
        <p:txBody>
          <a:bodyPr wrap="square" rtlCol="0" anchor="ctr"/>
          <a:lstStyle/>
          <a:p>
            <a:pPr marL="0" indent="0">
              <a:lnSpc>
                <a:spcPts val="1600"/>
              </a:lnSpc>
              <a:buNone/>
            </a:pPr>
            <a:r>
              <a:rPr lang="en-US" sz="1050" dirty="0">
                <a:solidFill>
                  <a:srgbClr val="CBD5E1"/>
                </a:solidFill>
                <a:latin typeface="Segoe UI" pitchFamily="34" charset="0"/>
                <a:ea typeface="Segoe UI" pitchFamily="34" charset="-122"/>
                <a:cs typeface="Segoe UI" pitchFamily="34" charset="-120"/>
              </a:rPr>
              <a:t>Implement Socket.io for instant live notifications, collaborative Kanban card dragging, and active user presence indicators.</a:t>
            </a:r>
            <a:endParaRPr lang="en-US" sz="1050" dirty="0"/>
          </a:p>
        </p:txBody>
      </p:sp>
      <p:sp>
        <p:nvSpPr>
          <p:cNvPr id="8" name="Shape 6"/>
          <p:cNvSpPr/>
          <p:nvPr/>
        </p:nvSpPr>
        <p:spPr>
          <a:xfrm>
            <a:off x="4389120" y="1463040"/>
            <a:ext cx="3383280" cy="1920240"/>
          </a:xfrm>
          <a:prstGeom prst="rect">
            <a:avLst/>
          </a:prstGeom>
          <a:solidFill>
            <a:srgbClr val="1E293B"/>
          </a:solidFill>
          <a:ln w="12700">
            <a:solidFill>
              <a:srgbClr val="334155"/>
            </a:solidFill>
            <a:prstDash val="solid"/>
          </a:ln>
        </p:spPr>
      </p:sp>
      <p:sp>
        <p:nvSpPr>
          <p:cNvPr id="9" name="Text 7"/>
          <p:cNvSpPr/>
          <p:nvPr/>
        </p:nvSpPr>
        <p:spPr>
          <a:xfrm>
            <a:off x="4572000" y="1645920"/>
            <a:ext cx="3017520" cy="320040"/>
          </a:xfrm>
          <a:prstGeom prst="rect">
            <a:avLst/>
          </a:prstGeom>
          <a:noFill/>
          <a:ln/>
        </p:spPr>
        <p:txBody>
          <a:bodyPr wrap="square" rtlCol="0" anchor="ctr"/>
          <a:lstStyle/>
          <a:p>
            <a:pPr marL="0" indent="0">
              <a:buNone/>
            </a:pPr>
            <a:r>
              <a:rPr lang="en-US" sz="1300" b="1" dirty="0">
                <a:solidFill>
                  <a:srgbClr val="818CF8"/>
                </a:solidFill>
                <a:latin typeface="Segoe UI" pitchFamily="34" charset="0"/>
                <a:ea typeface="Segoe UI" pitchFamily="34" charset="-122"/>
                <a:cs typeface="Segoe UI" pitchFamily="34" charset="-120"/>
              </a:rPr>
              <a:t>🚀 AI Sprint Summarization</a:t>
            </a:r>
            <a:endParaRPr lang="en-US" sz="1300" dirty="0"/>
          </a:p>
        </p:txBody>
      </p:sp>
      <p:sp>
        <p:nvSpPr>
          <p:cNvPr id="10" name="Text 8"/>
          <p:cNvSpPr/>
          <p:nvPr/>
        </p:nvSpPr>
        <p:spPr>
          <a:xfrm>
            <a:off x="4572000" y="2011680"/>
            <a:ext cx="3017520" cy="1188720"/>
          </a:xfrm>
          <a:prstGeom prst="rect">
            <a:avLst/>
          </a:prstGeom>
          <a:noFill/>
          <a:ln/>
        </p:spPr>
        <p:txBody>
          <a:bodyPr wrap="square" rtlCol="0" anchor="ctr"/>
          <a:lstStyle/>
          <a:p>
            <a:pPr marL="0" indent="0">
              <a:lnSpc>
                <a:spcPts val="1600"/>
              </a:lnSpc>
              <a:buNone/>
            </a:pPr>
            <a:r>
              <a:rPr lang="en-US" sz="1050" dirty="0">
                <a:solidFill>
                  <a:srgbClr val="CBD5E1"/>
                </a:solidFill>
                <a:latin typeface="Segoe UI" pitchFamily="34" charset="0"/>
                <a:ea typeface="Segoe UI" pitchFamily="34" charset="-122"/>
                <a:cs typeface="Segoe UI" pitchFamily="34" charset="-120"/>
              </a:rPr>
              <a:t>Integrate LLM-powered sprint insights to automatically summarize epic progress, identify blockers, and forecast task completion.</a:t>
            </a:r>
            <a:endParaRPr lang="en-US" sz="1050" dirty="0"/>
          </a:p>
        </p:txBody>
      </p:sp>
      <p:sp>
        <p:nvSpPr>
          <p:cNvPr id="11" name="Shape 9"/>
          <p:cNvSpPr/>
          <p:nvPr/>
        </p:nvSpPr>
        <p:spPr>
          <a:xfrm>
            <a:off x="7863840" y="1463040"/>
            <a:ext cx="3383280" cy="1920240"/>
          </a:xfrm>
          <a:prstGeom prst="rect">
            <a:avLst/>
          </a:prstGeom>
          <a:solidFill>
            <a:srgbClr val="1E293B"/>
          </a:solidFill>
          <a:ln w="12700">
            <a:solidFill>
              <a:srgbClr val="334155"/>
            </a:solidFill>
            <a:prstDash val="solid"/>
          </a:ln>
        </p:spPr>
      </p:sp>
      <p:sp>
        <p:nvSpPr>
          <p:cNvPr id="12" name="Text 10"/>
          <p:cNvSpPr/>
          <p:nvPr/>
        </p:nvSpPr>
        <p:spPr>
          <a:xfrm>
            <a:off x="8046720" y="1645920"/>
            <a:ext cx="3017520" cy="320040"/>
          </a:xfrm>
          <a:prstGeom prst="rect">
            <a:avLst/>
          </a:prstGeom>
          <a:noFill/>
          <a:ln/>
        </p:spPr>
        <p:txBody>
          <a:bodyPr wrap="square" rtlCol="0" anchor="ctr"/>
          <a:lstStyle/>
          <a:p>
            <a:pPr marL="0" indent="0">
              <a:buNone/>
            </a:pPr>
            <a:r>
              <a:rPr lang="en-US" sz="1300" b="1" dirty="0">
                <a:solidFill>
                  <a:srgbClr val="818CF8"/>
                </a:solidFill>
                <a:latin typeface="Segoe UI" pitchFamily="34" charset="0"/>
                <a:ea typeface="Segoe UI" pitchFamily="34" charset="-122"/>
                <a:cs typeface="Segoe UI" pitchFamily="34" charset="-120"/>
              </a:rPr>
              <a:t>🚀 Mobile App &amp; Integrations</a:t>
            </a:r>
            <a:endParaRPr lang="en-US" sz="1300" dirty="0"/>
          </a:p>
        </p:txBody>
      </p:sp>
      <p:sp>
        <p:nvSpPr>
          <p:cNvPr id="13" name="Text 11"/>
          <p:cNvSpPr/>
          <p:nvPr/>
        </p:nvSpPr>
        <p:spPr>
          <a:xfrm>
            <a:off x="8046720" y="2011680"/>
            <a:ext cx="3017520" cy="1188720"/>
          </a:xfrm>
          <a:prstGeom prst="rect">
            <a:avLst/>
          </a:prstGeom>
          <a:noFill/>
          <a:ln/>
        </p:spPr>
        <p:txBody>
          <a:bodyPr wrap="square" rtlCol="0" anchor="ctr"/>
          <a:lstStyle/>
          <a:p>
            <a:pPr marL="0" indent="0">
              <a:lnSpc>
                <a:spcPts val="1600"/>
              </a:lnSpc>
              <a:buNone/>
            </a:pPr>
            <a:r>
              <a:rPr lang="en-US" sz="1050" dirty="0">
                <a:solidFill>
                  <a:srgbClr val="CBD5E1"/>
                </a:solidFill>
                <a:latin typeface="Segoe UI" pitchFamily="34" charset="0"/>
                <a:ea typeface="Segoe UI" pitchFamily="34" charset="-122"/>
                <a:cs typeface="Segoe UI" pitchFamily="34" charset="-120"/>
              </a:rPr>
              <a:t>Build a React Native mobile companion app and integrate third-party webhooks (GitHub commits, Slack alerts, Jira sync).</a:t>
            </a:r>
            <a:endParaRPr lang="en-US" sz="1050" dirty="0"/>
          </a:p>
        </p:txBody>
      </p:sp>
      <p:sp>
        <p:nvSpPr>
          <p:cNvPr id="14" name="Shape 12"/>
          <p:cNvSpPr/>
          <p:nvPr/>
        </p:nvSpPr>
        <p:spPr>
          <a:xfrm>
            <a:off x="914400" y="3657600"/>
            <a:ext cx="10332720" cy="2286000"/>
          </a:xfrm>
          <a:prstGeom prst="rect">
            <a:avLst/>
          </a:prstGeom>
          <a:solidFill>
            <a:srgbClr val="1E293B"/>
          </a:solidFill>
          <a:ln w="19050">
            <a:solidFill>
              <a:srgbClr val="4F46E5"/>
            </a:solidFill>
            <a:prstDash val="solid"/>
          </a:ln>
        </p:spPr>
      </p:sp>
      <p:sp>
        <p:nvSpPr>
          <p:cNvPr id="15" name="Text 13"/>
          <p:cNvSpPr/>
          <p:nvPr/>
        </p:nvSpPr>
        <p:spPr>
          <a:xfrm>
            <a:off x="914400" y="3886200"/>
            <a:ext cx="10332720" cy="457200"/>
          </a:xfrm>
          <a:prstGeom prst="rect">
            <a:avLst/>
          </a:prstGeom>
          <a:noFill/>
          <a:ln/>
        </p:spPr>
        <p:txBody>
          <a:bodyPr wrap="square" rtlCol="0" anchor="ctr"/>
          <a:lstStyle/>
          <a:p>
            <a:pPr marL="0" indent="0" algn="ctr">
              <a:buNone/>
            </a:pPr>
            <a:r>
              <a:rPr lang="en-US" sz="2800" b="1" dirty="0">
                <a:solidFill>
                  <a:srgbClr val="FFFFFF"/>
                </a:solidFill>
                <a:latin typeface="Segoe UI" pitchFamily="34" charset="0"/>
                <a:ea typeface="Segoe UI" pitchFamily="34" charset="-122"/>
                <a:cs typeface="Segoe UI" pitchFamily="34" charset="-120"/>
              </a:rPr>
              <a:t>THANK YOU!</a:t>
            </a:r>
            <a:endParaRPr lang="en-US" sz="2800" dirty="0"/>
          </a:p>
        </p:txBody>
      </p:sp>
      <p:sp>
        <p:nvSpPr>
          <p:cNvPr id="16" name="Text 14"/>
          <p:cNvSpPr/>
          <p:nvPr/>
        </p:nvSpPr>
        <p:spPr>
          <a:xfrm>
            <a:off x="914400" y="4389120"/>
            <a:ext cx="10332720" cy="320040"/>
          </a:xfrm>
          <a:prstGeom prst="rect">
            <a:avLst/>
          </a:prstGeom>
          <a:noFill/>
          <a:ln/>
        </p:spPr>
        <p:txBody>
          <a:bodyPr wrap="square" rtlCol="0" anchor="ctr"/>
          <a:lstStyle/>
          <a:p>
            <a:pPr marL="0" indent="0" algn="ctr">
              <a:buNone/>
            </a:pPr>
            <a:r>
              <a:rPr lang="en-US" sz="1400" dirty="0">
                <a:solidFill>
                  <a:srgbClr val="38BDF8"/>
                </a:solidFill>
                <a:latin typeface="Segoe UI" pitchFamily="34" charset="0"/>
                <a:ea typeface="Segoe UI" pitchFamily="34" charset="-122"/>
                <a:cs typeface="Segoe UI" pitchFamily="34" charset="-120"/>
              </a:rPr>
              <a:t>Questions &amp; Discussion Welcome</a:t>
            </a:r>
            <a:endParaRPr lang="en-US" sz="1400" dirty="0"/>
          </a:p>
        </p:txBody>
      </p:sp>
      <p:sp>
        <p:nvSpPr>
          <p:cNvPr id="17" name="Text 15"/>
          <p:cNvSpPr/>
          <p:nvPr/>
        </p:nvSpPr>
        <p:spPr>
          <a:xfrm>
            <a:off x="914400" y="4846320"/>
            <a:ext cx="10332720" cy="731520"/>
          </a:xfrm>
          <a:prstGeom prst="rect">
            <a:avLst/>
          </a:prstGeom>
          <a:noFill/>
          <a:ln/>
        </p:spPr>
        <p:txBody>
          <a:bodyPr wrap="square" rtlCol="0" anchor="ctr"/>
          <a:lstStyle/>
          <a:p>
            <a:pPr marL="0" indent="0" algn="ctr">
              <a:lnSpc>
                <a:spcPts val="1800"/>
              </a:lnSpc>
              <a:buNone/>
            </a:pPr>
            <a:r>
              <a:rPr lang="en-US" sz="1100" dirty="0">
                <a:solidFill>
                  <a:srgbClr val="94A3B8"/>
                </a:solidFill>
                <a:latin typeface="Segoe UI" pitchFamily="34" charset="0"/>
                <a:ea typeface="Segoe UI" pitchFamily="34" charset="-122"/>
                <a:cs typeface="Segoe UI" pitchFamily="34" charset="-120"/>
              </a:rPr>
              <a:t>Presenter: Aryan Raj (MERN Stack Developer Intern) | AMSYS Infocom Pvt Ltd</a:t>
            </a:r>
            <a:endParaRPr lang="en-US" sz="1100" dirty="0"/>
          </a:p>
          <a:p>
            <a:pPr marL="0" indent="0" algn="ctr">
              <a:lnSpc>
                <a:spcPts val="1800"/>
              </a:lnSpc>
              <a:buNone/>
            </a:pPr>
            <a:r>
              <a:rPr lang="en-US" sz="1100" dirty="0">
                <a:solidFill>
                  <a:srgbClr val="94A3B8"/>
                </a:solidFill>
                <a:latin typeface="Segoe UI" pitchFamily="34" charset="0"/>
                <a:ea typeface="Segoe UI" pitchFamily="34" charset="-122"/>
                <a:cs typeface="Segoe UI" pitchFamily="34" charset="-120"/>
              </a:rPr>
              <a:t>Project: Digital Operation Hub (TeamSync B2B) | Guide: Saurabh Shukla (Program Manager)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3579</Words>
  <Application>Microsoft Office PowerPoint</Application>
  <PresentationFormat>On-screen Show (16:9)</PresentationFormat>
  <Paragraphs>271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AMSYS Infocom Pvt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Operation Hub - Internship &amp; Project Presentation</dc:title>
  <dc:subject>MERN Stack Development Internship Evaluation</dc:subject>
  <dc:creator>Aryan Raj</dc:creator>
  <cp:lastModifiedBy>LENOVO</cp:lastModifiedBy>
  <cp:revision>2</cp:revision>
  <dcterms:created xsi:type="dcterms:W3CDTF">2026-09-04T07:29:50Z</dcterms:created>
  <dcterms:modified xsi:type="dcterms:W3CDTF">2026-09-04T08:17:44Z</dcterms:modified>
</cp:coreProperties>
</file>